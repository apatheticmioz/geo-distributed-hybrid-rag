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E5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814" y="1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1A202C"/>
                </a:solidFill>
                <a:latin typeface="Arial"/>
              </a:defRPr>
            </a:pPr>
            <a:r>
              <a:rPr lang="fr-FR" sz="1100" b="0" i="0" u="none" strike="noStrike">
                <a:solidFill>
                  <a:srgbClr val="1A202C"/>
                </a:solidFill>
                <a:latin typeface="Arial"/>
              </a:rPr>
              <a:t>TTFT Microbenchmark — Local (50 queries)</a:t>
            </a:r>
          </a:p>
        </c:rich>
      </c:tx>
      <c:overlay val="0"/>
    </c:title>
    <c:autoTitleDeleted val="0"/>
    <c:plotArea>
      <c:layout/>
      <c:barChart>
        <c:barDir val="col"/>
        <c:grouping val="clustered"/>
        <c:varyColors val="0"/>
        <c:ser>
          <c:idx val="0"/>
          <c:order val="0"/>
          <c:tx>
            <c:strRef>
              <c:f>Sheet1!$B$1</c:f>
              <c:strCache>
                <c:ptCount val="1"/>
                <c:pt idx="0">
                  <c:v>Mean Latency (ms)</c:v>
                </c:pt>
              </c:strCache>
            </c:strRef>
          </c:tx>
          <c:spPr>
            <a:solidFill>
              <a:srgbClr val="DC2626"/>
            </a:solidFill>
            <a:effectLst/>
          </c:spPr>
          <c:invertIfNegative val="0"/>
          <c:dPt>
            <c:idx val="0"/>
            <c:invertIfNegative val="0"/>
            <c:bubble3D val="0"/>
            <c:spPr>
              <a:solidFill>
                <a:srgbClr val="DC2626"/>
              </a:solidFill>
              <a:effectLst/>
            </c:spPr>
            <c:extLst>
              <c:ext xmlns:c16="http://schemas.microsoft.com/office/drawing/2014/chart" uri="{C3380CC4-5D6E-409C-BE32-E72D297353CC}">
                <c16:uniqueId val="{00000001-E2D2-4091-B684-E7D550D19CE9}"/>
              </c:ext>
            </c:extLst>
          </c:dPt>
          <c:dPt>
            <c:idx val="1"/>
            <c:invertIfNegative val="0"/>
            <c:bubble3D val="0"/>
            <c:spPr>
              <a:solidFill>
                <a:srgbClr val="10B981"/>
              </a:solidFill>
              <a:effectLst/>
            </c:spPr>
            <c:extLst>
              <c:ext xmlns:c16="http://schemas.microsoft.com/office/drawing/2014/chart" uri="{C3380CC4-5D6E-409C-BE32-E72D297353CC}">
                <c16:uniqueId val="{00000003-E2D2-4091-B684-E7D550D19CE9}"/>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Sequential</c:v>
                </c:pt>
                <c:pt idx="1">
                  <c:v>Parallel</c:v>
                </c:pt>
              </c:strCache>
            </c:strRef>
          </c:cat>
          <c:val>
            <c:numRef>
              <c:f>Sheet1!$B$2:$B$3</c:f>
              <c:numCache>
                <c:formatCode>General</c:formatCode>
                <c:ptCount val="2"/>
                <c:pt idx="0">
                  <c:v>3.16</c:v>
                </c:pt>
                <c:pt idx="1">
                  <c:v>2.8</c:v>
                </c:pt>
              </c:numCache>
            </c:numRef>
          </c:val>
          <c:extLst>
            <c:ext xmlns:c16="http://schemas.microsoft.com/office/drawing/2014/chart" uri="{C3380CC4-5D6E-409C-BE32-E72D297353CC}">
              <c16:uniqueId val="{00000004-E2D2-4091-B684-E7D550D19C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1A202C"/>
                </a:solidFill>
                <a:latin typeface="Arial"/>
              </a:defRPr>
            </a:pPr>
            <a:r>
              <a:rPr lang="en-US" sz="1100" b="0" i="0" u="none" strike="noStrike">
                <a:solidFill>
                  <a:srgbClr val="1A202C"/>
                </a:solidFill>
                <a:latin typeface="Arial"/>
              </a:rPr>
              <a:t>Generation Throughput — Node A RTX 3080 (100 queries)</a:t>
            </a:r>
          </a:p>
        </c:rich>
      </c:tx>
      <c:overlay val="0"/>
    </c:title>
    <c:autoTitleDeleted val="0"/>
    <c:plotArea>
      <c:layout/>
      <c:lineChart>
        <c:grouping val="standard"/>
        <c:varyColors val="0"/>
        <c:ser>
          <c:idx val="0"/>
          <c:order val="0"/>
          <c:tx>
            <c:strRef>
              <c:f>Sheet1!$B$1</c:f>
              <c:strCache>
                <c:ptCount val="1"/>
                <c:pt idx="0">
                  <c:v>Prompt Throughput (tok/s)</c:v>
                </c:pt>
              </c:strCache>
            </c:strRef>
          </c:tx>
          <c:spPr>
            <a:ln w="25400" cap="flat">
              <a:solidFill>
                <a:srgbClr val="0096B7"/>
              </a:solidFill>
              <a:prstDash val="solid"/>
              <a:round/>
            </a:ln>
            <a:effectLst/>
          </c:spPr>
          <c:marker>
            <c:symbol val="circle"/>
            <c:size val="6"/>
            <c:spPr>
              <a:solidFill>
                <a:srgbClr val="0096B7"/>
              </a:solidFill>
              <a:ln w="9525" cap="flat">
                <a:solidFill>
                  <a:srgbClr val="0096B7"/>
                </a:solidFill>
                <a:prstDash val="solid"/>
                <a:round/>
              </a:ln>
              <a:effectLst/>
            </c:spPr>
          </c:marker>
          <c:cat>
            <c:strRef>
              <c:f>Sheet1!$A$2:$A$11</c:f>
              <c:strCache>
                <c:ptCount val="10"/>
                <c:pt idx="0">
                  <c:v>q10</c:v>
                </c:pt>
                <c:pt idx="1">
                  <c:v>q20</c:v>
                </c:pt>
                <c:pt idx="2">
                  <c:v>q30</c:v>
                </c:pt>
                <c:pt idx="3">
                  <c:v>q40</c:v>
                </c:pt>
                <c:pt idx="4">
                  <c:v>q50</c:v>
                </c:pt>
                <c:pt idx="5">
                  <c:v>q60</c:v>
                </c:pt>
                <c:pt idx="6">
                  <c:v>q70</c:v>
                </c:pt>
                <c:pt idx="7">
                  <c:v>q80</c:v>
                </c:pt>
                <c:pt idx="8">
                  <c:v>q90</c:v>
                </c:pt>
                <c:pt idx="9">
                  <c:v>q100</c:v>
                </c:pt>
              </c:strCache>
            </c:strRef>
          </c:cat>
          <c:val>
            <c:numRef>
              <c:f>Sheet1!$B$2:$B$11</c:f>
              <c:numCache>
                <c:formatCode>General</c:formatCode>
                <c:ptCount val="10"/>
                <c:pt idx="0">
                  <c:v>15</c:v>
                </c:pt>
                <c:pt idx="1">
                  <c:v>38</c:v>
                </c:pt>
                <c:pt idx="2">
                  <c:v>52</c:v>
                </c:pt>
                <c:pt idx="3">
                  <c:v>60</c:v>
                </c:pt>
                <c:pt idx="4">
                  <c:v>65</c:v>
                </c:pt>
                <c:pt idx="5">
                  <c:v>63</c:v>
                </c:pt>
                <c:pt idx="6">
                  <c:v>65</c:v>
                </c:pt>
                <c:pt idx="7">
                  <c:v>64</c:v>
                </c:pt>
                <c:pt idx="8">
                  <c:v>64</c:v>
                </c:pt>
                <c:pt idx="9">
                  <c:v>65</c:v>
                </c:pt>
              </c:numCache>
            </c:numRef>
          </c:val>
          <c:smooth val="1"/>
          <c:extLst>
            <c:ext xmlns:c16="http://schemas.microsoft.com/office/drawing/2014/chart" uri="{C3380CC4-5D6E-409C-BE32-E72D297353CC}">
              <c16:uniqueId val="{00000000-CA43-4A72-AB6E-0B78D8CF7807}"/>
            </c:ext>
          </c:extLst>
        </c:ser>
        <c:ser>
          <c:idx val="1"/>
          <c:order val="1"/>
          <c:tx>
            <c:strRef>
              <c:f>Sheet1!$C$1</c:f>
              <c:strCache>
                <c:ptCount val="1"/>
                <c:pt idx="0">
                  <c:v>Generation Throughput (tok/s)</c:v>
                </c:pt>
              </c:strCache>
            </c:strRef>
          </c:tx>
          <c:spPr>
            <a:ln w="25400" cap="flat">
              <a:solidFill>
                <a:srgbClr val="1C4E80"/>
              </a:solidFill>
              <a:prstDash val="solid"/>
              <a:round/>
            </a:ln>
            <a:effectLst/>
          </c:spPr>
          <c:marker>
            <c:symbol val="circle"/>
            <c:size val="6"/>
            <c:spPr>
              <a:solidFill>
                <a:srgbClr val="1C4E80"/>
              </a:solidFill>
              <a:ln w="9525" cap="flat">
                <a:solidFill>
                  <a:srgbClr val="1C4E80"/>
                </a:solidFill>
                <a:prstDash val="solid"/>
                <a:round/>
              </a:ln>
              <a:effectLst/>
            </c:spPr>
          </c:marker>
          <c:cat>
            <c:strRef>
              <c:f>Sheet1!$A$2:$A$11</c:f>
              <c:strCache>
                <c:ptCount val="10"/>
                <c:pt idx="0">
                  <c:v>q10</c:v>
                </c:pt>
                <c:pt idx="1">
                  <c:v>q20</c:v>
                </c:pt>
                <c:pt idx="2">
                  <c:v>q30</c:v>
                </c:pt>
                <c:pt idx="3">
                  <c:v>q40</c:v>
                </c:pt>
                <c:pt idx="4">
                  <c:v>q50</c:v>
                </c:pt>
                <c:pt idx="5">
                  <c:v>q60</c:v>
                </c:pt>
                <c:pt idx="6">
                  <c:v>q70</c:v>
                </c:pt>
                <c:pt idx="7">
                  <c:v>q80</c:v>
                </c:pt>
                <c:pt idx="8">
                  <c:v>q90</c:v>
                </c:pt>
                <c:pt idx="9">
                  <c:v>q100</c:v>
                </c:pt>
              </c:strCache>
            </c:strRef>
          </c:cat>
          <c:val>
            <c:numRef>
              <c:f>Sheet1!$C$2:$C$11</c:f>
              <c:numCache>
                <c:formatCode>General</c:formatCode>
                <c:ptCount val="10"/>
                <c:pt idx="0">
                  <c:v>66</c:v>
                </c:pt>
                <c:pt idx="1">
                  <c:v>70</c:v>
                </c:pt>
                <c:pt idx="2">
                  <c:v>75</c:v>
                </c:pt>
                <c:pt idx="3">
                  <c:v>78</c:v>
                </c:pt>
                <c:pt idx="4">
                  <c:v>80</c:v>
                </c:pt>
                <c:pt idx="5">
                  <c:v>79</c:v>
                </c:pt>
                <c:pt idx="6">
                  <c:v>82</c:v>
                </c:pt>
                <c:pt idx="7">
                  <c:v>81</c:v>
                </c:pt>
                <c:pt idx="8">
                  <c:v>80</c:v>
                </c:pt>
                <c:pt idx="9">
                  <c:v>82</c:v>
                </c:pt>
              </c:numCache>
            </c:numRef>
          </c:val>
          <c:smooth val="1"/>
          <c:extLst>
            <c:ext xmlns:c16="http://schemas.microsoft.com/office/drawing/2014/chart" uri="{C3380CC4-5D6E-409C-BE32-E72D297353CC}">
              <c16:uniqueId val="{00000001-CA43-4A72-AB6E-0B78D8CF780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A202C"/>
                </a:solidFill>
                <a:latin typeface="Arial"/>
              </a:defRPr>
            </a:pPr>
            <a:r>
              <a:rPr lang="en-US" sz="1100" b="0" i="0" u="none" strike="noStrike">
                <a:solidFill>
                  <a:srgbClr val="1A202C"/>
                </a:solidFill>
                <a:latin typeface="Arial"/>
              </a:rPr>
              <a:t>F1 Score — WikiQA (n=100)</a:t>
            </a:r>
          </a:p>
        </c:rich>
      </c:tx>
      <c:overlay val="0"/>
    </c:title>
    <c:autoTitleDeleted val="0"/>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1C4E80"/>
              </a:solidFill>
              <a:effectLst/>
            </c:spPr>
            <c:extLst>
              <c:ext xmlns:c16="http://schemas.microsoft.com/office/drawing/2014/chart" uri="{C3380CC4-5D6E-409C-BE32-E72D297353CC}">
                <c16:uniqueId val="{00000001-07A5-4F4F-A8DE-7B9183466D05}"/>
              </c:ext>
            </c:extLst>
          </c:dPt>
          <c:dPt>
            <c:idx val="1"/>
            <c:bubble3D val="0"/>
            <c:spPr>
              <a:solidFill>
                <a:srgbClr val="E2E8F0"/>
              </a:solidFill>
              <a:effectLst/>
            </c:spPr>
            <c:extLst>
              <c:ext xmlns:c16="http://schemas.microsoft.com/office/drawing/2014/chart" uri="{C3380CC4-5D6E-409C-BE32-E72D297353CC}">
                <c16:uniqueId val="{00000003-07A5-4F4F-A8DE-7B9183466D05}"/>
              </c:ext>
            </c:extLst>
          </c:dPt>
          <c:dLbls>
            <c:dLbl>
              <c:idx val="0"/>
              <c:layout>
                <c:manualLayout>
                  <c:x val="0.12152777777777778"/>
                  <c:y val="-7.3529411764705899E-2"/>
                </c:manualLayout>
              </c:layout>
              <c:numFmt formatCode="General" sourceLinked="0"/>
              <c:spPr/>
              <c:txPr>
                <a:bodyPr/>
                <a:lstStyle/>
                <a:p>
                  <a:pPr>
                    <a:defRPr sz="1200" b="0" i="0" u="none" strike="noStrike">
                      <a:solidFill>
                        <a:srgbClr val="000000"/>
                      </a:solidFill>
                      <a:latin typeface="Arial"/>
                    </a:defRPr>
                  </a:pPr>
                  <a:endParaRPr lang="en-US"/>
                </a:p>
              </c:txPr>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7A5-4F4F-A8DE-7B9183466D05}"/>
                </c:ext>
              </c:extLst>
            </c:dLbl>
            <c:dLbl>
              <c:idx val="1"/>
              <c:numFmt formatCode="General" sourceLinked="0"/>
              <c:spPr/>
              <c:txPr>
                <a:bodyPr/>
                <a:lstStyle/>
                <a:p>
                  <a:pPr>
                    <a:defRPr sz="1200" b="0" i="0" u="none" strike="noStrike">
                      <a:solidFill>
                        <a:srgbClr val="000000"/>
                      </a:solidFill>
                      <a:latin typeface="Arial"/>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22461805555555556"/>
                      <c:h val="0.12504084967320261"/>
                    </c:manualLayout>
                  </c15:layout>
                </c:ext>
                <c:ext xmlns:c16="http://schemas.microsoft.com/office/drawing/2014/chart" uri="{C3380CC4-5D6E-409C-BE32-E72D297353CC}">
                  <c16:uniqueId val="{00000003-07A5-4F4F-A8DE-7B9183466D05}"/>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F1 Score (22%)</c:v>
                </c:pt>
                <c:pt idx="1">
                  <c:v>Remaining</c:v>
                </c:pt>
              </c:strCache>
            </c:strRef>
          </c:cat>
          <c:val>
            <c:numRef>
              <c:f>Sheet1!$B$2:$B$3</c:f>
              <c:numCache>
                <c:formatCode>General</c:formatCode>
                <c:ptCount val="2"/>
                <c:pt idx="0">
                  <c:v>22</c:v>
                </c:pt>
                <c:pt idx="1">
                  <c:v>78</c:v>
                </c:pt>
              </c:numCache>
            </c:numRef>
          </c:val>
          <c:extLst>
            <c:ext xmlns:c16="http://schemas.microsoft.com/office/drawing/2014/chart" uri="{C3380CC4-5D6E-409C-BE32-E72D297353CC}">
              <c16:uniqueId val="{00000004-07A5-4F4F-A8DE-7B9183466D05}"/>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legend>
    <c:plotVisOnly val="1"/>
    <c:dispBlanksAs val="span"/>
    <c:showDLblsOverMax val="1"/>
  </c:chart>
  <c:spPr>
    <a:solidFill>
      <a:srgbClr val="F0F5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27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M. Abdullah Ali
Good morning/afternoon, Professor. My name is Abdullah Ali, and alongside my partner Abdullah Aamir, we will be presenting our NLP final project. 
Our project is titled "Geo-Distributed Pipeline Parallelism for Hybrid Retrieval-Augmented Generation on Asymmetric Edge-to-Core Topologies." The core idea is simple: modern AI assistants that search for information before answering — what we call RAG systems — are slow on real-world networks because they run their search steps one after another. We built a system that runs those steps in parallel, and today we will show you exactly why that matters, how we built it, and what we measured.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M. Abdullah Ali
Let us start with the problem. A standard Retrieval-Augmented Generation system works like this: a user sends a query, the system first runs a sparse keyword search, waits for that to finish, then computes a dense neural embedding, waits again, queries a vector database, and only then begins generating a response. Every single one of these steps is a blocking call.
Now imagine this pipeline is spread across real machines over a real network — which is exactly what most production deployments look like. Each of these blocking steps accumulates Wide Area Network latency. Research shows that communication overhead alone accounts for 23% of end-to-end inference latency, and when P95 latency exceeds two seconds, 40% of users simply abandon the session.
The mathematical consequence is captured in this formula: T-sequential equals T-sparse plus T-WAN plus T-dense. Every stage adds to the total time. Our goal is to eliminate that summation.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M. Abdullah Aamir
Thank you. Now let me walk you through the foundational work that shaped our design.
Our first base paper is Splitwise by Patel et al., published at ISCA 2024. They demonstrated that LLM inference has two very different computational profiles: the prefill phase is compute-saturated, while the decode phase is memory-bandwidth-saturated. Splitting these across machines gives up to 2.35 times throughput improvement. We extended this disaggregation philosophy not just to LLM phases, but to the retrieval stage itself.
Our second foundation is BGE-M3 by Chen et al. This is a unified embedding model that performs dense retrieval, sparse retrieval, and multi-vector ColBERT-style retrieval all in a single forward pass. This is deployed on our intermediate GPU node, Node B.
Our third reference is the LLM Inference Offloading paper by He et al. in IEEE Transactions on Mobile Computing. They use active inference principles for asynchronous scheduling in cloud-edge deployments. We adopted this concept for our fallback mechanism — a key resilience feature I will explain shortly.
Our work bridges the gap between all three: Splitwise assumes homogeneous clusters; we adapt it for genuinely asymmetric consumer hardware over real geographic distances.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M. Abdullah Aamir
Our project has four clearly defined objectives.
Objective one is Deconstruct — we break the monolithic RAG pipeline apart into independently running microservices so that edge and core work never block each other.
Objective two is to Mask WAN Latency. The key insight is that if we run sparse and dense retrieval at exactly the same time, the sparse retrieval — which completes in under one millisecond — is completely hidden behind the remote dense retrieval that takes around 180 to 200 milliseconds. The sparse path is effectively free.
Objective three is Fault Tolerance. We implement what we call an Active Inference fallback: if the dense retrieval node does not respond within a dynamic timeout threshold, the generation engine does not stall — it immediately proceeds using only the sparse context.
Objective four is Hardware Efficiency. We had to make this work on real consumer hardware with real VRAM constraints: an 8th-gen Intel laptop as edge, a GTX 1660 Ti with 6 gigabytes for retrieval, and an RTX 3080 with 10 gigabytes for generation. We used AWQ 4-bit quantization to fit a 16-gigabyte model into 10 gigabytes.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M. Abdullah Ali
Let me describe our three-node architecture.
Node C is our Edge Orchestrator deployed on a university laptop. It runs an Intel i5 12th-gen with 16 gigabytes of RAM. It hosts a FastAPI gateway that receives user queries, runs a local BM25 sparse search using the Tantivy engine entirely in CPU memory — sub-millisecond — and simultaneously dispatches a gRPC call over a WireGuard-encrypted VPN tunnel to our home machines.
Node B is our Dense Retrieval Engine — a gaming laptop at home running an i7-10750H with a GTX 1660 Ti, 6 gigabytes of VRAM. It hosts a gRPC server that computes BGE-M3 neural embeddings in FP16 precision and queries a Qdrant vector database for the top-10 nearest neighbors.
Node A is our Core Generation and Synchronization Engine — a desktop with a Ryzen 7 7700, 32 gigabytes of DDR5, and an RTX 3080 with 10 gigabytes of VRAM. It runs the Llama-3-8B model quantized to 4-bit using AWQ, served through vLLM. Critically, Node A acts as the Synchronization Controller — it receives sparse results from Node C and dense results from Node B, fuses them using Reciprocal Rank Fusion, and generates the final response.
Nodes A and B share a home LAN with under 1 millisecond transfer latency. Node C is genuinely separated by a real WAN segment.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M. Abdullah Ali
Here is the core innovation visualized. Let me walk you through it step by step.
When a user query arrives at Node C's FastAPI gateway, Node C performs what we call a Parallel Dispatch: it launches two branches simultaneously at the exact same instant.
Branch 1, the sparse branch, stays entirely local. Node C runs a BM25 keyword search against an in-memory Tantivy inverted index. This completes in approximately 0.7 milliseconds.
Branch 2, the dense branch, goes remote. Node C dispatches a non-blocking gRPC call over our WireGuard VPN to Node B. Node B computes a BGE-M3 neural embedding, queries Qdrant for the top-10 nearest neighbors, and sends results directly to Node A over the fast home LAN. This entire remote branch takes approximately 192 milliseconds.
Node A is the Synchronization Controller. It receives sparse results from Node C and dense results from Node B, waits for both, applies Reciprocal Rank Fusion to produce a unified ranked context, and feeds that into Llama-3-8B for generation.
The key insight is at the bottom: T-parallel equals the maximum of T-sparse and T-WAN plus T-dense. Since 0.7 milliseconds is three orders of magnitude smaller than 192 milliseconds, the sparse branch contributes zero to the user-visible latency. It is completely free.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M. Abdullah Aamir
Let me walk you through the two major engineering challenges we had to solve.
Challenge one was the GPU cold-start penalty. When PyTorch and CUDA first initialize on a forward pass, there is significant JIT compilation overhead. In practice, the very first BGE-M3 inference was taking 790 milliseconds instead of the steady-state 65 to 200 milliseconds. Our solution was a blocking warm-up routine: we submit a synthetic dummy query to BGE-M3 during server startup, before port 50051 is opened to live traffic. This absorbs the cold-start penalty transparently. You can see in our evaluation data that the first WikiQA query still shows 790 milliseconds, but subsequent queries converge to steady-state within just a few requests — exactly as expected.
Challenge two was the VRAM constraint. Llama-3-8B in FP16 needs approximately 16 gigabytes of VRAM. Our RTX 3080 only has 10 gigabytes. We applied AWQ — Activation-aware Weight Quantization — which is a 4-bit quantization method that analyzes per-channel activation magnitudes to identify and protect the most salient weights before compressing. The result: the model occupies just 5.34 gigabytes — a 3 times compression — leaving 4.66 gigabytes available for the KV-cache, represented as 939 GPU blocks in vLLM.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M. Abdullah Aamir
Now let me make the performance benefit concrete by directly comparing our approach against the baseline.
In the sequential baseline, every stage is queued: you wait for sparse search to finish, then you wait for the WAN round-trip, then you wait for dense compute, and only then does generation begin. The total is a sum of all delays.
In our parallel approach, the mathematical model changes fundamentally: T-parallel equals the maximum of T-sparse and T-WAN plus T-dense. Since T-sparse is 0.7 milliseconds and the remote branch is 192 milliseconds, the sparse path contributes absolutely nothing to user-visible latency. It is structurally masked.
We also implemented an important resilience feature that the baseline lacks entirely: if Node B does not respond within a dynamic timeout threshold, Node A does not stall. Instead, it immediately proceeds with a "speculative prefill" using only the sparse context, generating a complete response without any interruption. This fallback was triggered during our actual 100-query evaluation run and worked correctly — the user would have seen no difference.
The bottom line: empirically confirmed across 100 WikiQA queries, our Edge Time-to-First-Token was consistently 190 to 195 milliseconds, with zero contribution from the sparse path.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M. Abdullah Ali
Now for the results. Let me take you through the latency and throughput data.
The bar chart on the left shows our local microbenchmark — 50 queries with WAN delay artificially disabled, purely measuring the async scheduling overhead. Sequential averaged 3.16 milliseconds; parallel averaged 2.80 milliseconds — an 11.4% improvement even without any real network benefit. This validates that our async architecture itself adds no overhead.
The line chart on the right shows generation throughput across the 100-query WikiQA evaluation. The lower line shows prompt throughput starting low as the GPU warms up and converging around 65 tokens per second. The upper line shows generation throughput consistently in the 66 to 82 tokens per second range. This confirms that AWQ quantization does not materially degrade the decode performance on the RTX 3080.
The table below summarizes the key measurements. The most important row is the final one in the latency section: T-sparse contribution to the critical path is zero milliseconds — fully masked. The Edge Time-to-First-Token is 190 to 195 milliseconds across all 100 queries. Our mathematical model is empirically confirmed.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M. Abdullah Ali
Now let me address the accuracy results and, importantly, the correct interpretation of these numbers.
We evaluated on 100 questions from the WikiQA validation set using two standard metrics: Exact Match and token-level F1 score.
The Exact Match score is zero. This might look alarming, but it is expected and correct. Llama-3-8B-Instruct is an instruction-following model — it is trained to produce helpful, conversational answers like "The answer is X, because..." rather than extracting a bare substring. Exact character match against a three-word ground truth answer is structurally impossible for any instruction-tuned generative model, regardless of whether the model's answer is factually correct.
The F1 score of 0.22, on the other hand, measures token-level overlap between the model's output and the ground truth. An F1 of 0.22 across 100 diverse questions confirms that the model is grounding its responses in the retrieved context. More importantly, several individual questions achieved F1 scores above 0.65, with a maximum of 0.80. These are cases where the retriever surfaced the correct passage and the model produced a highly accurate response.
The bottleneck in accuracy is the scope of our Qdrant index, not the retrieval mechanism or generation quality. With a broader knowledge base — for example, a full Wikipedia index — the pipeline's accuracy would improve substantially. The architecture is proven; the index coverage is a data scope limitation.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M. Abdullah Aamir
Let me close with our key conclusions.
First, and most importantly, the latency masking model is empirically confirmed. T-parallel equals max of T-sparse and T-WAN plus T-dense. BM25 completes in 0.7 milliseconds and contributes zero to user-visible latency. Our Edge Time-to-First-Token is 190 to 195 milliseconds across 100 queries — dominated entirely by the remote dense branch, exactly as our model predicts.
Second, fault tolerance is proven under real conditions. The Active Inference fallback was triggered during evaluation — a genuine network degradation event — and the system delivered a complete response without any user-visible interruption. Sequential pipelines cannot do this; a timeout anywhere stalls everything.
Third, hardware efficiency is achieved. AWQ compressed a 16-gigabyte model to 5.34 gigabytes with no material impact on the 65 to 82 tokens per second generation throughput.
For future work: we plan to enable the awq_marlin kernel for additional throughput on the RTX 3080, extend evaluation to MS MARCO for retrieval quality metrics, implement multi-user concurrent batching, and replace the static timeout with an online bandit-based adaptive scheduler.
[BOTH SPEAKERS]: Thank you, Professor. We are ready for your questions and we have a live demonstration available if needed.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4E80"/>
          </a:solidFill>
          <a:ln w="12700">
            <a:solidFill>
              <a:srgbClr val="1C4E80"/>
            </a:solidFill>
            <a:prstDash val="solid"/>
          </a:ln>
        </p:spPr>
        <p:txBody>
          <a:bodyPr/>
          <a:lstStyle/>
          <a:p>
            <a:endParaRPr lang="en-US"/>
          </a:p>
        </p:txBody>
      </p:sp>
      <p:sp>
        <p:nvSpPr>
          <p:cNvPr id="3" name="Shape 1"/>
          <p:cNvSpPr/>
          <p:nvPr/>
        </p:nvSpPr>
        <p:spPr>
          <a:xfrm>
            <a:off x="201168" y="0"/>
            <a:ext cx="64008" cy="5143500"/>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278364" y="5082481"/>
            <a:ext cx="8878824" cy="54864"/>
          </a:xfrm>
          <a:prstGeom prst="rect">
            <a:avLst/>
          </a:prstGeom>
          <a:solidFill>
            <a:srgbClr val="00B4D8"/>
          </a:solidFill>
          <a:ln w="12700">
            <a:solidFill>
              <a:srgbClr val="00B4D8"/>
            </a:solidFill>
            <a:prstDash val="solid"/>
          </a:ln>
        </p:spPr>
        <p:txBody>
          <a:bodyPr/>
          <a:lstStyle/>
          <a:p>
            <a:endParaRPr lang="en-US"/>
          </a:p>
        </p:txBody>
      </p:sp>
      <p:sp>
        <p:nvSpPr>
          <p:cNvPr id="5" name="Shape 3"/>
          <p:cNvSpPr/>
          <p:nvPr/>
        </p:nvSpPr>
        <p:spPr>
          <a:xfrm>
            <a:off x="594360" y="411480"/>
            <a:ext cx="2377440" cy="329184"/>
          </a:xfrm>
          <a:prstGeom prst="rect">
            <a:avLst/>
          </a:prstGeom>
          <a:solidFill>
            <a:srgbClr val="1C4E80"/>
          </a:solidFill>
          <a:ln w="12700">
            <a:solidFill>
              <a:srgbClr val="0096B7"/>
            </a:solidFill>
            <a:prstDash val="solid"/>
          </a:ln>
        </p:spPr>
        <p:txBody>
          <a:bodyPr/>
          <a:lstStyle/>
          <a:p>
            <a:endParaRPr lang="en-US"/>
          </a:p>
        </p:txBody>
      </p:sp>
      <p:sp>
        <p:nvSpPr>
          <p:cNvPr id="6" name="Text 4"/>
          <p:cNvSpPr/>
          <p:nvPr/>
        </p:nvSpPr>
        <p:spPr>
          <a:xfrm>
            <a:off x="594360" y="411480"/>
            <a:ext cx="2377440" cy="329184"/>
          </a:xfrm>
          <a:prstGeom prst="rect">
            <a:avLst/>
          </a:prstGeom>
          <a:noFill/>
          <a:ln/>
        </p:spPr>
        <p:txBody>
          <a:bodyPr wrap="square" lIns="0" tIns="0" rIns="0" bIns="0"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Natural Language Processing</a:t>
            </a:r>
            <a:br>
              <a:rPr lang="en-US" sz="1000" b="1" dirty="0">
                <a:solidFill>
                  <a:srgbClr val="00B4D8"/>
                </a:solidFill>
                <a:latin typeface="Calibri" pitchFamily="34" charset="0"/>
                <a:ea typeface="Calibri" pitchFamily="34" charset="-122"/>
                <a:cs typeface="Calibri" pitchFamily="34" charset="-120"/>
              </a:rPr>
            </a:br>
            <a:r>
              <a:rPr lang="en-US" sz="1000" b="1" dirty="0">
                <a:solidFill>
                  <a:srgbClr val="00B4D8"/>
                </a:solidFill>
                <a:latin typeface="Calibri" pitchFamily="34" charset="0"/>
                <a:ea typeface="Calibri" pitchFamily="34" charset="-122"/>
                <a:cs typeface="Calibri" pitchFamily="34" charset="-120"/>
              </a:rPr>
              <a:t>Parallel and Distributed Computing</a:t>
            </a:r>
            <a:endParaRPr lang="en-US" sz="1000" dirty="0"/>
          </a:p>
        </p:txBody>
      </p:sp>
      <p:sp>
        <p:nvSpPr>
          <p:cNvPr id="7" name="Text 5"/>
          <p:cNvSpPr/>
          <p:nvPr/>
        </p:nvSpPr>
        <p:spPr>
          <a:xfrm>
            <a:off x="548640" y="960120"/>
            <a:ext cx="8046720" cy="1874520"/>
          </a:xfrm>
          <a:prstGeom prst="rect">
            <a:avLst/>
          </a:prstGeom>
          <a:noFill/>
          <a:ln/>
        </p:spPr>
        <p:txBody>
          <a:bodyPr wrap="square" rtlCol="0" anchor="t"/>
          <a:lstStyle/>
          <a:p>
            <a:pPr marL="0" indent="0" algn="l">
              <a:buNone/>
            </a:pPr>
            <a:r>
              <a:rPr lang="en-US" sz="3800" b="1" dirty="0">
                <a:solidFill>
                  <a:srgbClr val="FFFFFF"/>
                </a:solidFill>
                <a:latin typeface="Calibri" pitchFamily="34" charset="0"/>
                <a:ea typeface="Calibri" pitchFamily="34" charset="-122"/>
                <a:cs typeface="Calibri" pitchFamily="34" charset="-120"/>
              </a:rPr>
              <a:t>Geo-Distributed Pipeline</a:t>
            </a:r>
            <a:endParaRPr lang="en-US" sz="3800" dirty="0"/>
          </a:p>
          <a:p>
            <a:pPr marL="0" indent="0" algn="l">
              <a:buNone/>
            </a:pPr>
            <a:r>
              <a:rPr lang="en-US" sz="3800" b="1" dirty="0">
                <a:solidFill>
                  <a:srgbClr val="FFFFFF"/>
                </a:solidFill>
                <a:latin typeface="Calibri" pitchFamily="34" charset="0"/>
                <a:ea typeface="Calibri" pitchFamily="34" charset="-122"/>
                <a:cs typeface="Calibri" pitchFamily="34" charset="-120"/>
              </a:rPr>
              <a:t>Parallelism for Hybrid RAG</a:t>
            </a:r>
            <a:endParaRPr lang="en-US" sz="3800" dirty="0"/>
          </a:p>
        </p:txBody>
      </p:sp>
      <p:sp>
        <p:nvSpPr>
          <p:cNvPr id="8" name="Text 6"/>
          <p:cNvSpPr/>
          <p:nvPr/>
        </p:nvSpPr>
        <p:spPr>
          <a:xfrm>
            <a:off x="548640" y="2788920"/>
            <a:ext cx="8046720" cy="502920"/>
          </a:xfrm>
          <a:prstGeom prst="rect">
            <a:avLst/>
          </a:prstGeom>
          <a:noFill/>
          <a:ln/>
        </p:spPr>
        <p:txBody>
          <a:bodyPr wrap="square" rtlCol="0" anchor="ctr"/>
          <a:lstStyle/>
          <a:p>
            <a:pPr marL="0" indent="0" algn="l">
              <a:buNone/>
            </a:pPr>
            <a:r>
              <a:rPr lang="en-US" sz="1800" i="1" dirty="0">
                <a:solidFill>
                  <a:srgbClr val="00B4D8"/>
                </a:solidFill>
                <a:latin typeface="Calibri" pitchFamily="34" charset="0"/>
                <a:ea typeface="Calibri" pitchFamily="34" charset="-122"/>
                <a:cs typeface="Calibri" pitchFamily="34" charset="-120"/>
              </a:rPr>
              <a:t>on Asymmetric Edge-to-Core Topologies</a:t>
            </a:r>
            <a:endParaRPr lang="en-US" sz="1800" dirty="0"/>
          </a:p>
        </p:txBody>
      </p:sp>
      <p:sp>
        <p:nvSpPr>
          <p:cNvPr id="9" name="Text 7"/>
          <p:cNvSpPr/>
          <p:nvPr/>
        </p:nvSpPr>
        <p:spPr>
          <a:xfrm>
            <a:off x="548640" y="3474720"/>
            <a:ext cx="5029200" cy="1097280"/>
          </a:xfrm>
          <a:prstGeom prst="rect">
            <a:avLst/>
          </a:prstGeom>
          <a:noFill/>
          <a:ln/>
        </p:spPr>
        <p:txBody>
          <a:bodyPr wrap="square" rtlCol="0" anchor="ctr"/>
          <a:lstStyle/>
          <a:p>
            <a:pPr marL="0" indent="0" algn="l">
              <a:buNone/>
            </a:pPr>
            <a:r>
              <a:rPr lang="en-US" sz="1300" b="1" dirty="0">
                <a:solidFill>
                  <a:srgbClr val="B0C4DE"/>
                </a:solidFill>
                <a:latin typeface="Calibri" pitchFamily="34" charset="0"/>
                <a:ea typeface="Calibri" pitchFamily="34" charset="-122"/>
                <a:cs typeface="Calibri" pitchFamily="34" charset="-120"/>
              </a:rPr>
              <a:t>M. Abdullah Ali</a:t>
            </a:r>
            <a:endParaRPr lang="en-US" sz="1300" dirty="0"/>
          </a:p>
          <a:p>
            <a:pPr marL="0" indent="0" algn="l">
              <a:buNone/>
            </a:pPr>
            <a:r>
              <a:rPr lang="en-US" sz="1300" dirty="0">
                <a:solidFill>
                  <a:srgbClr val="B0C4DE"/>
                </a:solidFill>
                <a:latin typeface="Calibri" pitchFamily="34" charset="0"/>
                <a:ea typeface="Calibri" pitchFamily="34" charset="-122"/>
                <a:cs typeface="Calibri" pitchFamily="34" charset="-120"/>
              </a:rPr>
              <a:t>23i-2523  ·  Data Science, FAST-NUCES</a:t>
            </a:r>
            <a:endParaRPr lang="en-US" sz="1300" dirty="0"/>
          </a:p>
          <a:p>
            <a:pPr marL="0" indent="0" algn="l">
              <a:buNone/>
            </a:pPr>
            <a:r>
              <a:rPr lang="en-US" sz="1300" dirty="0">
                <a:solidFill>
                  <a:srgbClr val="B0C4DE"/>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B0C4DE"/>
                </a:solidFill>
                <a:latin typeface="Calibri" pitchFamily="34" charset="0"/>
                <a:ea typeface="Calibri" pitchFamily="34" charset="-122"/>
                <a:cs typeface="Calibri" pitchFamily="34" charset="-120"/>
              </a:rPr>
              <a:t>M. Abdullah Aamir</a:t>
            </a:r>
            <a:endParaRPr lang="en-US" sz="1300" dirty="0"/>
          </a:p>
          <a:p>
            <a:pPr marL="0" indent="0" algn="l">
              <a:buNone/>
            </a:pPr>
            <a:r>
              <a:rPr lang="en-US" sz="1300" dirty="0">
                <a:solidFill>
                  <a:srgbClr val="B0C4DE"/>
                </a:solidFill>
                <a:latin typeface="Calibri" pitchFamily="34" charset="0"/>
                <a:ea typeface="Calibri" pitchFamily="34" charset="-122"/>
                <a:cs typeface="Calibri" pitchFamily="34" charset="-120"/>
              </a:rPr>
              <a:t>23i-2538  ·  Data Science, FAST-NUCES</a:t>
            </a:r>
            <a:endParaRPr lang="en-US" sz="1300" dirty="0"/>
          </a:p>
        </p:txBody>
      </p:sp>
      <p:sp>
        <p:nvSpPr>
          <p:cNvPr id="10" name="Text 8"/>
          <p:cNvSpPr/>
          <p:nvPr/>
        </p:nvSpPr>
        <p:spPr>
          <a:xfrm>
            <a:off x="6858000" y="4434840"/>
            <a:ext cx="1828800" cy="365760"/>
          </a:xfrm>
          <a:prstGeom prst="rect">
            <a:avLst/>
          </a:prstGeom>
          <a:noFill/>
          <a:ln/>
        </p:spPr>
        <p:txBody>
          <a:bodyPr wrap="square" rtlCol="0" anchor="ctr"/>
          <a:lstStyle/>
          <a:p>
            <a:pPr marL="0" indent="0" algn="r">
              <a:buNone/>
            </a:pPr>
            <a:r>
              <a:rPr lang="en-US" sz="1100" dirty="0">
                <a:solidFill>
                  <a:srgbClr val="00B4D8"/>
                </a:solidFill>
                <a:latin typeface="Calibri" pitchFamily="34" charset="0"/>
                <a:ea typeface="Calibri" pitchFamily="34" charset="-122"/>
                <a:cs typeface="Calibri" pitchFamily="34" charset="-120"/>
              </a:rPr>
              <a:t>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The Bottleneck in Production RAG</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11480" y="960120"/>
            <a:ext cx="50292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11480" y="960120"/>
            <a:ext cx="54864" cy="1115568"/>
          </a:xfrm>
          <a:prstGeom prst="rect">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521208" y="1069848"/>
            <a:ext cx="475488" cy="475488"/>
          </a:xfrm>
          <a:prstGeom prst="rect">
            <a:avLst/>
          </a:prstGeom>
          <a:noFill/>
          <a:ln/>
        </p:spPr>
        <p:txBody>
          <a:bodyPr wrap="square" rtlCol="0" anchor="ctr"/>
          <a:lstStyle/>
          <a:p>
            <a:pPr marL="0" indent="0" algn="ctr">
              <a:buNone/>
            </a:pPr>
            <a:r>
              <a:rPr lang="en-US" sz="2000" b="1" dirty="0">
                <a:solidFill>
                  <a:srgbClr val="1C4E80"/>
                </a:solidFill>
                <a:latin typeface="Calibri" pitchFamily="34" charset="0"/>
                <a:ea typeface="Calibri" pitchFamily="34" charset="-122"/>
                <a:cs typeface="Calibri" pitchFamily="34" charset="-120"/>
              </a:rPr>
              <a:t>①</a:t>
            </a:r>
            <a:endParaRPr lang="en-US" sz="2000" dirty="0"/>
          </a:p>
        </p:txBody>
      </p:sp>
      <p:sp>
        <p:nvSpPr>
          <p:cNvPr id="8" name="Text 6"/>
          <p:cNvSpPr/>
          <p:nvPr/>
        </p:nvSpPr>
        <p:spPr>
          <a:xfrm>
            <a:off x="1024128" y="1069848"/>
            <a:ext cx="429768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Monolithic &amp; Sequential</a:t>
            </a:r>
            <a:endParaRPr lang="en-US" sz="1300" dirty="0"/>
          </a:p>
        </p:txBody>
      </p:sp>
      <p:sp>
        <p:nvSpPr>
          <p:cNvPr id="9" name="Text 7"/>
          <p:cNvSpPr/>
          <p:nvPr/>
        </p:nvSpPr>
        <p:spPr>
          <a:xfrm>
            <a:off x="1024128" y="1399032"/>
            <a:ext cx="4297680" cy="56692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Standard RAG blocks on sparse search, then waits for dense embedding, then begins generation — each step stalls the pipeline.</a:t>
            </a:r>
            <a:endParaRPr lang="en-US" sz="1100" dirty="0"/>
          </a:p>
        </p:txBody>
      </p:sp>
      <p:sp>
        <p:nvSpPr>
          <p:cNvPr id="10" name="Shape 8"/>
          <p:cNvSpPr/>
          <p:nvPr/>
        </p:nvSpPr>
        <p:spPr>
          <a:xfrm>
            <a:off x="411480" y="2221992"/>
            <a:ext cx="50292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11480" y="2221992"/>
            <a:ext cx="54864" cy="1115568"/>
          </a:xfrm>
          <a:prstGeom prst="rect">
            <a:avLst/>
          </a:prstGeom>
          <a:solidFill>
            <a:srgbClr val="00B4D8"/>
          </a:solidFill>
          <a:ln w="12700">
            <a:solidFill>
              <a:srgbClr val="00B4D8"/>
            </a:solidFill>
            <a:prstDash val="solid"/>
          </a:ln>
        </p:spPr>
        <p:txBody>
          <a:bodyPr/>
          <a:lstStyle/>
          <a:p>
            <a:endParaRPr lang="en-US"/>
          </a:p>
        </p:txBody>
      </p:sp>
      <p:sp>
        <p:nvSpPr>
          <p:cNvPr id="12" name="Text 10"/>
          <p:cNvSpPr/>
          <p:nvPr/>
        </p:nvSpPr>
        <p:spPr>
          <a:xfrm>
            <a:off x="521208" y="2331720"/>
            <a:ext cx="475488" cy="475488"/>
          </a:xfrm>
          <a:prstGeom prst="rect">
            <a:avLst/>
          </a:prstGeom>
          <a:noFill/>
          <a:ln/>
        </p:spPr>
        <p:txBody>
          <a:bodyPr wrap="square" rtlCol="0" anchor="ctr"/>
          <a:lstStyle/>
          <a:p>
            <a:pPr marL="0" indent="0" algn="ctr">
              <a:buNone/>
            </a:pPr>
            <a:r>
              <a:rPr lang="en-US" sz="2000" b="1" dirty="0">
                <a:solidFill>
                  <a:srgbClr val="1C4E80"/>
                </a:solidFill>
                <a:latin typeface="Calibri" pitchFamily="34" charset="0"/>
                <a:ea typeface="Calibri" pitchFamily="34" charset="-122"/>
                <a:cs typeface="Calibri" pitchFamily="34" charset="-120"/>
              </a:rPr>
              <a:t>②</a:t>
            </a:r>
            <a:endParaRPr lang="en-US" sz="2000" dirty="0"/>
          </a:p>
        </p:txBody>
      </p:sp>
      <p:sp>
        <p:nvSpPr>
          <p:cNvPr id="13" name="Text 11"/>
          <p:cNvSpPr/>
          <p:nvPr/>
        </p:nvSpPr>
        <p:spPr>
          <a:xfrm>
            <a:off x="1024128" y="2331720"/>
            <a:ext cx="429768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WAN Latency Accumulates</a:t>
            </a:r>
            <a:endParaRPr lang="en-US" sz="1300" dirty="0"/>
          </a:p>
        </p:txBody>
      </p:sp>
      <p:sp>
        <p:nvSpPr>
          <p:cNvPr id="14" name="Text 12"/>
          <p:cNvSpPr/>
          <p:nvPr/>
        </p:nvSpPr>
        <p:spPr>
          <a:xfrm>
            <a:off x="1024128" y="2660904"/>
            <a:ext cx="4297680" cy="56692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Across geo-distributed nodes, every sequential blocking call adds Wide Area Network delay, inflating Time-to-First-Token.</a:t>
            </a:r>
            <a:endParaRPr lang="en-US" sz="1100" dirty="0"/>
          </a:p>
        </p:txBody>
      </p:sp>
      <p:sp>
        <p:nvSpPr>
          <p:cNvPr id="15" name="Shape 13"/>
          <p:cNvSpPr/>
          <p:nvPr/>
        </p:nvSpPr>
        <p:spPr>
          <a:xfrm>
            <a:off x="411480" y="3483864"/>
            <a:ext cx="50292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11480" y="3483864"/>
            <a:ext cx="54864" cy="1115568"/>
          </a:xfrm>
          <a:prstGeom prst="rect">
            <a:avLst/>
          </a:prstGeom>
          <a:solidFill>
            <a:srgbClr val="00B4D8"/>
          </a:solidFill>
          <a:ln w="12700">
            <a:solidFill>
              <a:srgbClr val="00B4D8"/>
            </a:solidFill>
            <a:prstDash val="solid"/>
          </a:ln>
        </p:spPr>
        <p:txBody>
          <a:bodyPr/>
          <a:lstStyle/>
          <a:p>
            <a:endParaRPr lang="en-US"/>
          </a:p>
        </p:txBody>
      </p:sp>
      <p:sp>
        <p:nvSpPr>
          <p:cNvPr id="17" name="Text 15"/>
          <p:cNvSpPr/>
          <p:nvPr/>
        </p:nvSpPr>
        <p:spPr>
          <a:xfrm>
            <a:off x="521208" y="3593592"/>
            <a:ext cx="475488" cy="475488"/>
          </a:xfrm>
          <a:prstGeom prst="rect">
            <a:avLst/>
          </a:prstGeom>
          <a:noFill/>
          <a:ln/>
        </p:spPr>
        <p:txBody>
          <a:bodyPr wrap="square" rtlCol="0" anchor="ctr"/>
          <a:lstStyle/>
          <a:p>
            <a:pPr marL="0" indent="0" algn="ctr">
              <a:buNone/>
            </a:pPr>
            <a:r>
              <a:rPr lang="en-US" sz="2000" b="1" dirty="0">
                <a:solidFill>
                  <a:srgbClr val="1C4E80"/>
                </a:solidFill>
                <a:latin typeface="Calibri" pitchFamily="34" charset="0"/>
                <a:ea typeface="Calibri" pitchFamily="34" charset="-122"/>
                <a:cs typeface="Calibri" pitchFamily="34" charset="-120"/>
              </a:rPr>
              <a:t>③</a:t>
            </a:r>
            <a:endParaRPr lang="en-US" sz="2000" dirty="0"/>
          </a:p>
        </p:txBody>
      </p:sp>
      <p:sp>
        <p:nvSpPr>
          <p:cNvPr id="18" name="Text 16"/>
          <p:cNvSpPr/>
          <p:nvPr/>
        </p:nvSpPr>
        <p:spPr>
          <a:xfrm>
            <a:off x="1024128" y="3593592"/>
            <a:ext cx="429768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Pipeline Bubbles</a:t>
            </a:r>
            <a:endParaRPr lang="en-US" sz="1300" dirty="0"/>
          </a:p>
        </p:txBody>
      </p:sp>
      <p:sp>
        <p:nvSpPr>
          <p:cNvPr id="19" name="Text 17"/>
          <p:cNvSpPr/>
          <p:nvPr/>
        </p:nvSpPr>
        <p:spPr>
          <a:xfrm>
            <a:off x="1024128" y="3922776"/>
            <a:ext cx="4297680" cy="56692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High-end Core GPUs sit idle waiting for upstream network hops to complete — expensive hardware wasted.</a:t>
            </a:r>
            <a:endParaRPr lang="en-US" sz="1100" dirty="0"/>
          </a:p>
        </p:txBody>
      </p:sp>
      <p:sp>
        <p:nvSpPr>
          <p:cNvPr id="20" name="Shape 18"/>
          <p:cNvSpPr/>
          <p:nvPr/>
        </p:nvSpPr>
        <p:spPr>
          <a:xfrm>
            <a:off x="5669280" y="960120"/>
            <a:ext cx="3017520" cy="1417320"/>
          </a:xfrm>
          <a:prstGeom prst="rect">
            <a:avLst/>
          </a:prstGeom>
          <a:solidFill>
            <a:srgbClr val="1C4E80"/>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1" name="Text 19"/>
          <p:cNvSpPr/>
          <p:nvPr/>
        </p:nvSpPr>
        <p:spPr>
          <a:xfrm>
            <a:off x="5669280" y="1051560"/>
            <a:ext cx="3017520" cy="685800"/>
          </a:xfrm>
          <a:prstGeom prst="rect">
            <a:avLst/>
          </a:prstGeom>
          <a:noFill/>
          <a:ln/>
        </p:spPr>
        <p:txBody>
          <a:bodyPr wrap="square" rtlCol="0" anchor="ctr"/>
          <a:lstStyle/>
          <a:p>
            <a:pPr marL="0" indent="0" algn="ctr">
              <a:buNone/>
            </a:pPr>
            <a:r>
              <a:rPr lang="en-US" sz="5200" b="1" dirty="0">
                <a:solidFill>
                  <a:srgbClr val="00B4D8"/>
                </a:solidFill>
                <a:latin typeface="Calibri" pitchFamily="34" charset="0"/>
                <a:ea typeface="Calibri" pitchFamily="34" charset="-122"/>
                <a:cs typeface="Calibri" pitchFamily="34" charset="-120"/>
              </a:rPr>
              <a:t>23%</a:t>
            </a:r>
            <a:endParaRPr lang="en-US" sz="5200" dirty="0"/>
          </a:p>
        </p:txBody>
      </p:sp>
      <p:sp>
        <p:nvSpPr>
          <p:cNvPr id="22" name="Text 20"/>
          <p:cNvSpPr/>
          <p:nvPr/>
        </p:nvSpPr>
        <p:spPr>
          <a:xfrm>
            <a:off x="5669280" y="1719072"/>
            <a:ext cx="3017520" cy="548640"/>
          </a:xfrm>
          <a:prstGeom prst="rect">
            <a:avLst/>
          </a:prstGeom>
          <a:noFill/>
          <a:ln/>
        </p:spPr>
        <p:txBody>
          <a:bodyPr wrap="square" rtlCol="0" anchor="ctr"/>
          <a:lstStyle/>
          <a:p>
            <a:pPr marL="0" indent="0" algn="ctr">
              <a:buNone/>
            </a:pPr>
            <a:r>
              <a:rPr lang="en-US" sz="1050" dirty="0">
                <a:solidFill>
                  <a:srgbClr val="B0C4DE"/>
                </a:solidFill>
                <a:latin typeface="Calibri" pitchFamily="34" charset="0"/>
                <a:ea typeface="Calibri" pitchFamily="34" charset="-122"/>
                <a:cs typeface="Calibri" pitchFamily="34" charset="-120"/>
              </a:rPr>
              <a:t>of end-to-end latency from</a:t>
            </a:r>
            <a:endParaRPr lang="en-US" sz="1050" dirty="0"/>
          </a:p>
          <a:p>
            <a:pPr marL="0" indent="0" algn="ctr">
              <a:buNone/>
            </a:pPr>
            <a:r>
              <a:rPr lang="en-US" sz="1050" dirty="0">
                <a:solidFill>
                  <a:srgbClr val="B0C4DE"/>
                </a:solidFill>
                <a:latin typeface="Calibri" pitchFamily="34" charset="0"/>
                <a:ea typeface="Calibri" pitchFamily="34" charset="-122"/>
                <a:cs typeface="Calibri" pitchFamily="34" charset="-120"/>
              </a:rPr>
              <a:t>communication overhead alone</a:t>
            </a:r>
            <a:endParaRPr lang="en-US" sz="1050" dirty="0"/>
          </a:p>
        </p:txBody>
      </p:sp>
      <p:sp>
        <p:nvSpPr>
          <p:cNvPr id="23" name="Shape 21"/>
          <p:cNvSpPr/>
          <p:nvPr/>
        </p:nvSpPr>
        <p:spPr>
          <a:xfrm>
            <a:off x="5669280" y="2606040"/>
            <a:ext cx="3017520" cy="1417320"/>
          </a:xfrm>
          <a:prstGeom prst="rect">
            <a:avLst/>
          </a:prstGeom>
          <a:solidFill>
            <a:srgbClr val="1C4E80"/>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Text 22"/>
          <p:cNvSpPr/>
          <p:nvPr/>
        </p:nvSpPr>
        <p:spPr>
          <a:xfrm>
            <a:off x="5669280" y="2697480"/>
            <a:ext cx="3017520" cy="685800"/>
          </a:xfrm>
          <a:prstGeom prst="rect">
            <a:avLst/>
          </a:prstGeom>
          <a:noFill/>
          <a:ln/>
        </p:spPr>
        <p:txBody>
          <a:bodyPr wrap="square" rtlCol="0" anchor="ctr"/>
          <a:lstStyle/>
          <a:p>
            <a:pPr marL="0" indent="0" algn="ctr">
              <a:buNone/>
            </a:pPr>
            <a:r>
              <a:rPr lang="en-US" sz="5200" b="1" dirty="0">
                <a:solidFill>
                  <a:srgbClr val="00B4D8"/>
                </a:solidFill>
                <a:latin typeface="Calibri" pitchFamily="34" charset="0"/>
                <a:ea typeface="Calibri" pitchFamily="34" charset="-122"/>
                <a:cs typeface="Calibri" pitchFamily="34" charset="-120"/>
              </a:rPr>
              <a:t>40%</a:t>
            </a:r>
            <a:endParaRPr lang="en-US" sz="5200" dirty="0"/>
          </a:p>
        </p:txBody>
      </p:sp>
      <p:sp>
        <p:nvSpPr>
          <p:cNvPr id="25" name="Text 23"/>
          <p:cNvSpPr/>
          <p:nvPr/>
        </p:nvSpPr>
        <p:spPr>
          <a:xfrm>
            <a:off x="5669280" y="3364992"/>
            <a:ext cx="3017520" cy="548640"/>
          </a:xfrm>
          <a:prstGeom prst="rect">
            <a:avLst/>
          </a:prstGeom>
          <a:noFill/>
          <a:ln/>
        </p:spPr>
        <p:txBody>
          <a:bodyPr wrap="square" rtlCol="0" anchor="ctr"/>
          <a:lstStyle/>
          <a:p>
            <a:pPr marL="0" indent="0" algn="ctr">
              <a:buNone/>
            </a:pPr>
            <a:r>
              <a:rPr lang="en-US" sz="1050" dirty="0">
                <a:solidFill>
                  <a:srgbClr val="B0C4DE"/>
                </a:solidFill>
                <a:latin typeface="Calibri" pitchFamily="34" charset="0"/>
                <a:ea typeface="Calibri" pitchFamily="34" charset="-122"/>
                <a:cs typeface="Calibri" pitchFamily="34" charset="-120"/>
              </a:rPr>
              <a:t>user drop-off when P95 TTFT</a:t>
            </a:r>
            <a:endParaRPr lang="en-US" sz="1050" dirty="0"/>
          </a:p>
          <a:p>
            <a:pPr marL="0" indent="0" algn="ctr">
              <a:buNone/>
            </a:pPr>
            <a:r>
              <a:rPr lang="en-US" sz="1050" dirty="0">
                <a:solidFill>
                  <a:srgbClr val="B0C4DE"/>
                </a:solidFill>
                <a:latin typeface="Calibri" pitchFamily="34" charset="0"/>
                <a:ea typeface="Calibri" pitchFamily="34" charset="-122"/>
                <a:cs typeface="Calibri" pitchFamily="34" charset="-120"/>
              </a:rPr>
              <a:t>exceeds 2 seconds</a:t>
            </a:r>
            <a:endParaRPr lang="en-US" sz="1050" dirty="0"/>
          </a:p>
        </p:txBody>
      </p:sp>
      <p:sp>
        <p:nvSpPr>
          <p:cNvPr id="26" name="Shape 24"/>
          <p:cNvSpPr/>
          <p:nvPr/>
        </p:nvSpPr>
        <p:spPr>
          <a:xfrm>
            <a:off x="5669280" y="4160520"/>
            <a:ext cx="3017520" cy="731520"/>
          </a:xfrm>
          <a:prstGeom prst="rect">
            <a:avLst/>
          </a:prstGeom>
          <a:solidFill>
            <a:srgbClr val="EFF6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7" name="Text 25"/>
          <p:cNvSpPr/>
          <p:nvPr/>
        </p:nvSpPr>
        <p:spPr>
          <a:xfrm>
            <a:off x="5669280" y="4160520"/>
            <a:ext cx="3017520" cy="731520"/>
          </a:xfrm>
          <a:prstGeom prst="rect">
            <a:avLst/>
          </a:prstGeom>
          <a:noFill/>
          <a:ln/>
        </p:spPr>
        <p:txBody>
          <a:bodyPr wrap="square" rtlCol="0" anchor="ctr"/>
          <a:lstStyle/>
          <a:p>
            <a:pPr marL="0" indent="0" algn="ctr">
              <a:buNone/>
            </a:pPr>
            <a:r>
              <a:rPr lang="en-US" sz="1100" b="1" i="1" dirty="0">
                <a:solidFill>
                  <a:srgbClr val="1C4E80"/>
                </a:solidFill>
                <a:latin typeface="Calibri" pitchFamily="34" charset="0"/>
                <a:ea typeface="Calibri" pitchFamily="34" charset="-122"/>
                <a:cs typeface="Calibri" pitchFamily="34" charset="-120"/>
              </a:rPr>
              <a:t>T_sequential  =  T_sparse + T_WAN + T_dense</a:t>
            </a:r>
            <a:endParaRPr lang="en-US" sz="1100" dirty="0"/>
          </a:p>
        </p:txBody>
      </p:sp>
      <p:sp>
        <p:nvSpPr>
          <p:cNvPr id="28" name="Text 26"/>
          <p:cNvSpPr/>
          <p:nvPr/>
        </p:nvSpPr>
        <p:spPr>
          <a:xfrm>
            <a:off x="411480" y="4892040"/>
            <a:ext cx="8321040" cy="201168"/>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Foundation &amp; Related Work</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11480" y="932688"/>
            <a:ext cx="2743200"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11480" y="932688"/>
            <a:ext cx="2743200" cy="502920"/>
          </a:xfrm>
          <a:prstGeom prst="rect">
            <a:avLst/>
          </a:prstGeom>
          <a:solidFill>
            <a:srgbClr val="1C4E80"/>
          </a:solidFill>
          <a:ln w="12700">
            <a:solidFill>
              <a:srgbClr val="1C4E80"/>
            </a:solidFill>
            <a:prstDash val="solid"/>
          </a:ln>
        </p:spPr>
        <p:txBody>
          <a:bodyPr/>
          <a:lstStyle/>
          <a:p>
            <a:endParaRPr lang="en-US"/>
          </a:p>
        </p:txBody>
      </p:sp>
      <p:sp>
        <p:nvSpPr>
          <p:cNvPr id="7" name="Text 5"/>
          <p:cNvSpPr/>
          <p:nvPr/>
        </p:nvSpPr>
        <p:spPr>
          <a:xfrm>
            <a:off x="521208" y="950976"/>
            <a:ext cx="2523744"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Splitting</a:t>
            </a:r>
            <a:endParaRPr lang="en-US" sz="1000" dirty="0"/>
          </a:p>
        </p:txBody>
      </p:sp>
      <p:sp>
        <p:nvSpPr>
          <p:cNvPr id="8" name="Text 6"/>
          <p:cNvSpPr/>
          <p:nvPr/>
        </p:nvSpPr>
        <p:spPr>
          <a:xfrm>
            <a:off x="521208" y="1188720"/>
            <a:ext cx="2523744" cy="22860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Splitwise — Patel et al., ISCA 2024</a:t>
            </a:r>
            <a:endParaRPr lang="en-US" sz="900" dirty="0"/>
          </a:p>
        </p:txBody>
      </p:sp>
      <p:sp>
        <p:nvSpPr>
          <p:cNvPr id="9" name="Text 7"/>
          <p:cNvSpPr/>
          <p:nvPr/>
        </p:nvSpPr>
        <p:spPr>
          <a:xfrm>
            <a:off x="548640" y="1536192"/>
            <a:ext cx="2468880" cy="3154680"/>
          </a:xfrm>
          <a:prstGeom prst="rect">
            <a:avLst/>
          </a:prstGeom>
          <a:noFill/>
          <a:ln/>
        </p:spPr>
        <p:txBody>
          <a:bodyPr wrap="square"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Proved that LLM inference separates into a compute-saturated prefill phase and a memory-bandwidth-saturated decode phase.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Disaggregating these onto separate machines yields up to 2.35× throughput improvement.</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Our adaptation: extended this phase-splitting philosophy to the retrieval stage across geographic distances.</a:t>
            </a:r>
            <a:endParaRPr lang="en-US" sz="1100" dirty="0"/>
          </a:p>
        </p:txBody>
      </p:sp>
      <p:sp>
        <p:nvSpPr>
          <p:cNvPr id="10" name="Shape 8"/>
          <p:cNvSpPr/>
          <p:nvPr/>
        </p:nvSpPr>
        <p:spPr>
          <a:xfrm>
            <a:off x="3337560" y="932688"/>
            <a:ext cx="2743200"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3337560" y="932688"/>
            <a:ext cx="2743200" cy="502920"/>
          </a:xfrm>
          <a:prstGeom prst="rect">
            <a:avLst/>
          </a:prstGeom>
          <a:solidFill>
            <a:srgbClr val="0096B7"/>
          </a:solidFill>
          <a:ln w="12700">
            <a:solidFill>
              <a:srgbClr val="0096B7"/>
            </a:solidFill>
            <a:prstDash val="solid"/>
          </a:ln>
        </p:spPr>
        <p:txBody>
          <a:bodyPr/>
          <a:lstStyle/>
          <a:p>
            <a:endParaRPr lang="en-US"/>
          </a:p>
        </p:txBody>
      </p:sp>
      <p:sp>
        <p:nvSpPr>
          <p:cNvPr id="12" name="Text 10"/>
          <p:cNvSpPr/>
          <p:nvPr/>
        </p:nvSpPr>
        <p:spPr>
          <a:xfrm>
            <a:off x="3447288" y="950976"/>
            <a:ext cx="2523744"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Hybrid Retrieval</a:t>
            </a:r>
            <a:endParaRPr lang="en-US" sz="1000" dirty="0"/>
          </a:p>
        </p:txBody>
      </p:sp>
      <p:sp>
        <p:nvSpPr>
          <p:cNvPr id="13" name="Text 11"/>
          <p:cNvSpPr/>
          <p:nvPr/>
        </p:nvSpPr>
        <p:spPr>
          <a:xfrm>
            <a:off x="3447288" y="1188720"/>
            <a:ext cx="2523744" cy="22860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BGE-M3 — Chen et al., arXiv 2024</a:t>
            </a:r>
            <a:endParaRPr lang="en-US" sz="900" dirty="0"/>
          </a:p>
        </p:txBody>
      </p:sp>
      <p:sp>
        <p:nvSpPr>
          <p:cNvPr id="14" name="Text 12"/>
          <p:cNvSpPr/>
          <p:nvPr/>
        </p:nvSpPr>
        <p:spPr>
          <a:xfrm>
            <a:off x="3474720" y="1536192"/>
            <a:ext cx="2468880" cy="3154680"/>
          </a:xfrm>
          <a:prstGeom prst="rect">
            <a:avLst/>
          </a:prstGeom>
          <a:noFill/>
          <a:ln/>
        </p:spPr>
        <p:txBody>
          <a:bodyPr wrap="square"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Introduced a unified bi-encoder performing dense, sparse, and multi-vector ColBERT-style retrieval in a single FP16 forward pass.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Eliminates the need for separate model deployments for each retrieval modality.</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We deploy this on our mid-tier GPU node for single-pass hybrid embeddings.</a:t>
            </a:r>
            <a:endParaRPr lang="en-US" sz="1100" dirty="0"/>
          </a:p>
        </p:txBody>
      </p:sp>
      <p:sp>
        <p:nvSpPr>
          <p:cNvPr id="15" name="Shape 13"/>
          <p:cNvSpPr/>
          <p:nvPr/>
        </p:nvSpPr>
        <p:spPr>
          <a:xfrm>
            <a:off x="6263640" y="932688"/>
            <a:ext cx="2743200"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6263640" y="932688"/>
            <a:ext cx="2743200" cy="502920"/>
          </a:xfrm>
          <a:prstGeom prst="rect">
            <a:avLst/>
          </a:prstGeom>
          <a:solidFill>
            <a:srgbClr val="10B981"/>
          </a:solidFill>
          <a:ln w="12700">
            <a:solidFill>
              <a:srgbClr val="10B981"/>
            </a:solidFill>
            <a:prstDash val="solid"/>
          </a:ln>
        </p:spPr>
        <p:txBody>
          <a:bodyPr/>
          <a:lstStyle/>
          <a:p>
            <a:endParaRPr lang="en-US"/>
          </a:p>
        </p:txBody>
      </p:sp>
      <p:sp>
        <p:nvSpPr>
          <p:cNvPr id="17" name="Text 15"/>
          <p:cNvSpPr/>
          <p:nvPr/>
        </p:nvSpPr>
        <p:spPr>
          <a:xfrm>
            <a:off x="6373368" y="950976"/>
            <a:ext cx="2523744"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Edge Orchestration</a:t>
            </a:r>
            <a:endParaRPr lang="en-US" sz="1000" dirty="0"/>
          </a:p>
        </p:txBody>
      </p:sp>
      <p:sp>
        <p:nvSpPr>
          <p:cNvPr id="18" name="Text 16"/>
          <p:cNvSpPr/>
          <p:nvPr/>
        </p:nvSpPr>
        <p:spPr>
          <a:xfrm>
            <a:off x="6373368" y="1188720"/>
            <a:ext cx="2523744" cy="22860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LLM Inference Offloading — He et al., IEEE TMC 2024</a:t>
            </a:r>
            <a:endParaRPr lang="en-US" sz="900" dirty="0"/>
          </a:p>
        </p:txBody>
      </p:sp>
      <p:sp>
        <p:nvSpPr>
          <p:cNvPr id="19" name="Text 17"/>
          <p:cNvSpPr/>
          <p:nvPr/>
        </p:nvSpPr>
        <p:spPr>
          <a:xfrm>
            <a:off x="6400800" y="1536192"/>
            <a:ext cx="2468880" cy="3154680"/>
          </a:xfrm>
          <a:prstGeom prst="rect">
            <a:avLst/>
          </a:prstGeom>
          <a:noFill/>
          <a:ln/>
        </p:spPr>
        <p:txBody>
          <a:bodyPr wrap="square"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Introduced active-inference-based asynchronous scheduling for cloud-edge LLM deployments.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Demonstrated that asynchronous dispatch and fallback policies are essential in heterogeneous topologies.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We adapted this approach for our Active Inference fallback mechanism at the core node.</a:t>
            </a:r>
            <a:endParaRPr lang="en-US" sz="1100" dirty="0"/>
          </a:p>
        </p:txBody>
      </p:sp>
      <p:sp>
        <p:nvSpPr>
          <p:cNvPr id="20" name="Text 18"/>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Research Objectives</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11480" y="96012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11480" y="960120"/>
            <a:ext cx="54864" cy="1691640"/>
          </a:xfrm>
          <a:prstGeom prst="rect">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576072" y="1097280"/>
            <a:ext cx="640080" cy="502920"/>
          </a:xfrm>
          <a:prstGeom prst="rect">
            <a:avLst/>
          </a:prstGeom>
          <a:noFill/>
          <a:ln/>
        </p:spPr>
        <p:txBody>
          <a:bodyPr wrap="square" rtlCol="0" anchor="ctr"/>
          <a:lstStyle/>
          <a:p>
            <a:pPr marL="0" indent="0" algn="l">
              <a:buNone/>
            </a:pPr>
            <a:r>
              <a:rPr lang="en-US" sz="2800" b="1" dirty="0">
                <a:solidFill>
                  <a:srgbClr val="0096B7"/>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1234440" y="1143000"/>
            <a:ext cx="3154680" cy="365760"/>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Deconstruct</a:t>
            </a:r>
            <a:endParaRPr lang="en-US" sz="1400" dirty="0"/>
          </a:p>
        </p:txBody>
      </p:sp>
      <p:sp>
        <p:nvSpPr>
          <p:cNvPr id="9" name="Text 7"/>
          <p:cNvSpPr/>
          <p:nvPr/>
        </p:nvSpPr>
        <p:spPr>
          <a:xfrm>
            <a:off x="576072" y="1618488"/>
            <a:ext cx="3822192" cy="9144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Break the monolithic RAG pipeline into parallel microservices: Edge sparse retrieval vs. Core dense retrieval and generation — never blocking one on the other.</a:t>
            </a:r>
            <a:endParaRPr lang="en-US" sz="1100" dirty="0"/>
          </a:p>
        </p:txBody>
      </p:sp>
      <p:sp>
        <p:nvSpPr>
          <p:cNvPr id="10" name="Shape 8"/>
          <p:cNvSpPr/>
          <p:nvPr/>
        </p:nvSpPr>
        <p:spPr>
          <a:xfrm>
            <a:off x="4663440" y="96012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663440" y="960120"/>
            <a:ext cx="54864" cy="1691640"/>
          </a:xfrm>
          <a:prstGeom prst="rect">
            <a:avLst/>
          </a:prstGeom>
          <a:solidFill>
            <a:srgbClr val="00B4D8"/>
          </a:solidFill>
          <a:ln w="12700">
            <a:solidFill>
              <a:srgbClr val="00B4D8"/>
            </a:solidFill>
            <a:prstDash val="solid"/>
          </a:ln>
        </p:spPr>
        <p:txBody>
          <a:bodyPr/>
          <a:lstStyle/>
          <a:p>
            <a:endParaRPr lang="en-US"/>
          </a:p>
        </p:txBody>
      </p:sp>
      <p:sp>
        <p:nvSpPr>
          <p:cNvPr id="12" name="Text 10"/>
          <p:cNvSpPr/>
          <p:nvPr/>
        </p:nvSpPr>
        <p:spPr>
          <a:xfrm>
            <a:off x="4828032" y="1097280"/>
            <a:ext cx="640080" cy="502920"/>
          </a:xfrm>
          <a:prstGeom prst="rect">
            <a:avLst/>
          </a:prstGeom>
          <a:noFill/>
          <a:ln/>
        </p:spPr>
        <p:txBody>
          <a:bodyPr wrap="square" rtlCol="0" anchor="ctr"/>
          <a:lstStyle/>
          <a:p>
            <a:pPr marL="0" indent="0" algn="l">
              <a:buNone/>
            </a:pPr>
            <a:r>
              <a:rPr lang="en-US" sz="2800" b="1" dirty="0">
                <a:solidFill>
                  <a:srgbClr val="0096B7"/>
                </a:solidFill>
                <a:latin typeface="Calibri" pitchFamily="34" charset="0"/>
                <a:ea typeface="Calibri" pitchFamily="34" charset="-122"/>
                <a:cs typeface="Calibri" pitchFamily="34" charset="-120"/>
              </a:rPr>
              <a:t>02</a:t>
            </a:r>
            <a:endParaRPr lang="en-US" sz="2800" dirty="0"/>
          </a:p>
        </p:txBody>
      </p:sp>
      <p:sp>
        <p:nvSpPr>
          <p:cNvPr id="13" name="Text 11"/>
          <p:cNvSpPr/>
          <p:nvPr/>
        </p:nvSpPr>
        <p:spPr>
          <a:xfrm>
            <a:off x="5486400" y="1143000"/>
            <a:ext cx="3154680" cy="365760"/>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Mask WAN Latency</a:t>
            </a:r>
            <a:endParaRPr lang="en-US" sz="1400" dirty="0"/>
          </a:p>
        </p:txBody>
      </p:sp>
      <p:sp>
        <p:nvSpPr>
          <p:cNvPr id="14" name="Text 12"/>
          <p:cNvSpPr/>
          <p:nvPr/>
        </p:nvSpPr>
        <p:spPr>
          <a:xfrm>
            <a:off x="4828032" y="1618488"/>
            <a:ext cx="3822192" cy="9144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Overlap network transit time with local edge computation so that the Wide Area Network delay contributes zero time to the user-visible critical path.</a:t>
            </a:r>
            <a:endParaRPr lang="en-US" sz="1100" dirty="0"/>
          </a:p>
        </p:txBody>
      </p:sp>
      <p:sp>
        <p:nvSpPr>
          <p:cNvPr id="15" name="Shape 13"/>
          <p:cNvSpPr/>
          <p:nvPr/>
        </p:nvSpPr>
        <p:spPr>
          <a:xfrm>
            <a:off x="411480" y="283464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11480" y="2834640"/>
            <a:ext cx="54864" cy="1691640"/>
          </a:xfrm>
          <a:prstGeom prst="rect">
            <a:avLst/>
          </a:prstGeom>
          <a:solidFill>
            <a:srgbClr val="00B4D8"/>
          </a:solidFill>
          <a:ln w="12700">
            <a:solidFill>
              <a:srgbClr val="00B4D8"/>
            </a:solidFill>
            <a:prstDash val="solid"/>
          </a:ln>
        </p:spPr>
        <p:txBody>
          <a:bodyPr/>
          <a:lstStyle/>
          <a:p>
            <a:endParaRPr lang="en-US"/>
          </a:p>
        </p:txBody>
      </p:sp>
      <p:sp>
        <p:nvSpPr>
          <p:cNvPr id="17" name="Text 15"/>
          <p:cNvSpPr/>
          <p:nvPr/>
        </p:nvSpPr>
        <p:spPr>
          <a:xfrm>
            <a:off x="576072" y="2971800"/>
            <a:ext cx="640080" cy="502920"/>
          </a:xfrm>
          <a:prstGeom prst="rect">
            <a:avLst/>
          </a:prstGeom>
          <a:noFill/>
          <a:ln/>
        </p:spPr>
        <p:txBody>
          <a:bodyPr wrap="square" rtlCol="0" anchor="ctr"/>
          <a:lstStyle/>
          <a:p>
            <a:pPr marL="0" indent="0" algn="l">
              <a:buNone/>
            </a:pPr>
            <a:r>
              <a:rPr lang="en-US" sz="2800" b="1" dirty="0">
                <a:solidFill>
                  <a:srgbClr val="0096B7"/>
                </a:solidFill>
                <a:latin typeface="Calibri" pitchFamily="34" charset="0"/>
                <a:ea typeface="Calibri" pitchFamily="34" charset="-122"/>
                <a:cs typeface="Calibri" pitchFamily="34" charset="-120"/>
              </a:rPr>
              <a:t>03</a:t>
            </a:r>
            <a:endParaRPr lang="en-US" sz="2800" dirty="0"/>
          </a:p>
        </p:txBody>
      </p:sp>
      <p:sp>
        <p:nvSpPr>
          <p:cNvPr id="18" name="Text 16"/>
          <p:cNvSpPr/>
          <p:nvPr/>
        </p:nvSpPr>
        <p:spPr>
          <a:xfrm>
            <a:off x="1234440" y="3017520"/>
            <a:ext cx="3154680" cy="365760"/>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Ensure Fault Tolerance</a:t>
            </a:r>
            <a:endParaRPr lang="en-US" sz="1400" dirty="0"/>
          </a:p>
        </p:txBody>
      </p:sp>
      <p:sp>
        <p:nvSpPr>
          <p:cNvPr id="19" name="Text 17"/>
          <p:cNvSpPr/>
          <p:nvPr/>
        </p:nvSpPr>
        <p:spPr>
          <a:xfrm>
            <a:off x="576072" y="3493008"/>
            <a:ext cx="3822192" cy="9144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Implement an Active Inference–inspired fallback: if the dense retrieval node does not respond within threshold, generation proceeds on sparse context alone.</a:t>
            </a:r>
            <a:endParaRPr lang="en-US" sz="1100" dirty="0"/>
          </a:p>
        </p:txBody>
      </p:sp>
      <p:sp>
        <p:nvSpPr>
          <p:cNvPr id="20" name="Shape 18"/>
          <p:cNvSpPr/>
          <p:nvPr/>
        </p:nvSpPr>
        <p:spPr>
          <a:xfrm>
            <a:off x="4663440" y="2834640"/>
            <a:ext cx="411480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4663440" y="2834640"/>
            <a:ext cx="54864" cy="1691640"/>
          </a:xfrm>
          <a:prstGeom prst="rect">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4828032" y="2971800"/>
            <a:ext cx="640080" cy="502920"/>
          </a:xfrm>
          <a:prstGeom prst="rect">
            <a:avLst/>
          </a:prstGeom>
          <a:noFill/>
          <a:ln/>
        </p:spPr>
        <p:txBody>
          <a:bodyPr wrap="square" rtlCol="0" anchor="ctr"/>
          <a:lstStyle/>
          <a:p>
            <a:pPr marL="0" indent="0" algn="l">
              <a:buNone/>
            </a:pPr>
            <a:r>
              <a:rPr lang="en-US" sz="2800" b="1" dirty="0">
                <a:solidFill>
                  <a:srgbClr val="0096B7"/>
                </a:solidFill>
                <a:latin typeface="Calibri" pitchFamily="34" charset="0"/>
                <a:ea typeface="Calibri" pitchFamily="34" charset="-122"/>
                <a:cs typeface="Calibri" pitchFamily="34" charset="-120"/>
              </a:rPr>
              <a:t>04</a:t>
            </a:r>
            <a:endParaRPr lang="en-US" sz="2800" dirty="0"/>
          </a:p>
        </p:txBody>
      </p:sp>
      <p:sp>
        <p:nvSpPr>
          <p:cNvPr id="23" name="Text 21"/>
          <p:cNvSpPr/>
          <p:nvPr/>
        </p:nvSpPr>
        <p:spPr>
          <a:xfrm>
            <a:off x="5486400" y="3017520"/>
            <a:ext cx="3154680" cy="365760"/>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Maximize Hardware Efficiency</a:t>
            </a:r>
            <a:endParaRPr lang="en-US" sz="1400" dirty="0"/>
          </a:p>
        </p:txBody>
      </p:sp>
      <p:sp>
        <p:nvSpPr>
          <p:cNvPr id="24" name="Text 22"/>
          <p:cNvSpPr/>
          <p:nvPr/>
        </p:nvSpPr>
        <p:spPr>
          <a:xfrm>
            <a:off x="4828032" y="3493008"/>
            <a:ext cx="3822192" cy="9144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Deploy efficiently across asymmetric consumer nodes: Intel Iris XE (edge), GTX 1660 Ti 6 GB (retrieval), and RTX 3080 10 GB (generation) using AWQ quantization.</a:t>
            </a:r>
            <a:endParaRPr lang="en-US" sz="1100" dirty="0"/>
          </a:p>
        </p:txBody>
      </p:sp>
      <p:sp>
        <p:nvSpPr>
          <p:cNvPr id="25" name="Text 23"/>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Proposed Solution: Tripartite Architecture</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384048" y="932688"/>
            <a:ext cx="2816352"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84048" y="932688"/>
            <a:ext cx="2816352" cy="658368"/>
          </a:xfrm>
          <a:prstGeom prst="rect">
            <a:avLst/>
          </a:prstGeom>
          <a:solidFill>
            <a:srgbClr val="10B981"/>
          </a:solidFill>
          <a:ln w="12700">
            <a:solidFill>
              <a:srgbClr val="10B981"/>
            </a:solidFill>
            <a:prstDash val="solid"/>
          </a:ln>
        </p:spPr>
        <p:txBody>
          <a:bodyPr/>
          <a:lstStyle/>
          <a:p>
            <a:endParaRPr lang="en-US"/>
          </a:p>
        </p:txBody>
      </p:sp>
      <p:sp>
        <p:nvSpPr>
          <p:cNvPr id="7" name="Text 5"/>
          <p:cNvSpPr/>
          <p:nvPr/>
        </p:nvSpPr>
        <p:spPr>
          <a:xfrm>
            <a:off x="475488" y="960120"/>
            <a:ext cx="2633472"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NODE C</a:t>
            </a:r>
            <a:endParaRPr lang="en-US" sz="1400" dirty="0"/>
          </a:p>
        </p:txBody>
      </p:sp>
      <p:sp>
        <p:nvSpPr>
          <p:cNvPr id="8" name="Text 6"/>
          <p:cNvSpPr/>
          <p:nvPr/>
        </p:nvSpPr>
        <p:spPr>
          <a:xfrm>
            <a:off x="475488" y="1243584"/>
            <a:ext cx="2633472"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Edge Orchestrator</a:t>
            </a:r>
            <a:endParaRPr lang="en-US" sz="1000" dirty="0"/>
          </a:p>
        </p:txBody>
      </p:sp>
      <p:sp>
        <p:nvSpPr>
          <p:cNvPr id="9" name="Text 7"/>
          <p:cNvSpPr/>
          <p:nvPr/>
        </p:nvSpPr>
        <p:spPr>
          <a:xfrm>
            <a:off x="493776" y="1691640"/>
            <a:ext cx="2596896" cy="20116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Hardware</a:t>
            </a:r>
            <a:endParaRPr lang="en-US" sz="1000" dirty="0"/>
          </a:p>
        </p:txBody>
      </p:sp>
      <p:sp>
        <p:nvSpPr>
          <p:cNvPr id="10" name="Text 8"/>
          <p:cNvSpPr/>
          <p:nvPr/>
        </p:nvSpPr>
        <p:spPr>
          <a:xfrm>
            <a:off x="493776" y="1874520"/>
            <a:ext cx="2596896" cy="3200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i5-1235U · 16 GB LPDDR4X</a:t>
            </a:r>
            <a:endParaRPr lang="en-US" sz="1000" dirty="0"/>
          </a:p>
        </p:txBody>
      </p:sp>
      <p:sp>
        <p:nvSpPr>
          <p:cNvPr id="11" name="Text 9"/>
          <p:cNvSpPr/>
          <p:nvPr/>
        </p:nvSpPr>
        <p:spPr>
          <a:xfrm>
            <a:off x="493776" y="2267712"/>
            <a:ext cx="2596896" cy="20116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Network</a:t>
            </a:r>
            <a:endParaRPr lang="en-US" sz="1000" dirty="0"/>
          </a:p>
        </p:txBody>
      </p:sp>
      <p:sp>
        <p:nvSpPr>
          <p:cNvPr id="12" name="Text 10"/>
          <p:cNvSpPr/>
          <p:nvPr/>
        </p:nvSpPr>
        <p:spPr>
          <a:xfrm>
            <a:off x="493776" y="2450592"/>
            <a:ext cx="2596896" cy="3200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University Wi-Fi → WireGuard VPN</a:t>
            </a:r>
            <a:endParaRPr lang="en-US" sz="1000" dirty="0"/>
          </a:p>
        </p:txBody>
      </p:sp>
      <p:sp>
        <p:nvSpPr>
          <p:cNvPr id="13" name="Text 11"/>
          <p:cNvSpPr/>
          <p:nvPr/>
        </p:nvSpPr>
        <p:spPr>
          <a:xfrm>
            <a:off x="493776" y="2834640"/>
            <a:ext cx="2596896" cy="201168"/>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Software Stack</a:t>
            </a:r>
            <a:endParaRPr lang="en-US" sz="1000" dirty="0"/>
          </a:p>
        </p:txBody>
      </p:sp>
      <p:sp>
        <p:nvSpPr>
          <p:cNvPr id="14" name="Text 12"/>
          <p:cNvSpPr/>
          <p:nvPr/>
        </p:nvSpPr>
        <p:spPr>
          <a:xfrm>
            <a:off x="493776" y="3035808"/>
            <a:ext cx="2596896" cy="1600200"/>
          </a:xfrm>
          <a:prstGeom prst="rect">
            <a:avLst/>
          </a:prstGeom>
          <a:noFill/>
          <a:ln/>
        </p:spPr>
        <p:txBody>
          <a:bodyPr wrap="square" rtlCol="0" anchor="ctr"/>
          <a:lstStyle/>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FastAPI Gateway</a:t>
            </a:r>
            <a:endParaRPr lang="en-US" sz="1050" dirty="0"/>
          </a:p>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Tantivy BM25 (CPU RAM)</a:t>
            </a:r>
            <a:endParaRPr lang="en-US" sz="1050" dirty="0"/>
          </a:p>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Async gRPC Client</a:t>
            </a:r>
            <a:endParaRPr lang="en-US" sz="1050" dirty="0"/>
          </a:p>
        </p:txBody>
      </p:sp>
      <p:sp>
        <p:nvSpPr>
          <p:cNvPr id="15" name="Shape 13"/>
          <p:cNvSpPr/>
          <p:nvPr/>
        </p:nvSpPr>
        <p:spPr>
          <a:xfrm>
            <a:off x="3264408" y="932688"/>
            <a:ext cx="2816352"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3264408" y="932688"/>
            <a:ext cx="2816352" cy="658368"/>
          </a:xfrm>
          <a:prstGeom prst="rect">
            <a:avLst/>
          </a:prstGeom>
          <a:solidFill>
            <a:srgbClr val="0096B7"/>
          </a:solidFill>
          <a:ln w="12700">
            <a:solidFill>
              <a:srgbClr val="0096B7"/>
            </a:solidFill>
            <a:prstDash val="solid"/>
          </a:ln>
        </p:spPr>
        <p:txBody>
          <a:bodyPr/>
          <a:lstStyle/>
          <a:p>
            <a:endParaRPr lang="en-US"/>
          </a:p>
        </p:txBody>
      </p:sp>
      <p:sp>
        <p:nvSpPr>
          <p:cNvPr id="17" name="Text 15"/>
          <p:cNvSpPr/>
          <p:nvPr/>
        </p:nvSpPr>
        <p:spPr>
          <a:xfrm>
            <a:off x="3355848" y="960120"/>
            <a:ext cx="2633472"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NODE B</a:t>
            </a:r>
            <a:endParaRPr lang="en-US" sz="1400" dirty="0"/>
          </a:p>
        </p:txBody>
      </p:sp>
      <p:sp>
        <p:nvSpPr>
          <p:cNvPr id="18" name="Text 16"/>
          <p:cNvSpPr/>
          <p:nvPr/>
        </p:nvSpPr>
        <p:spPr>
          <a:xfrm>
            <a:off x="3355848" y="1243584"/>
            <a:ext cx="2633472"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Dense Retrieval Engine</a:t>
            </a:r>
            <a:endParaRPr lang="en-US" sz="1000" dirty="0"/>
          </a:p>
        </p:txBody>
      </p:sp>
      <p:sp>
        <p:nvSpPr>
          <p:cNvPr id="19" name="Text 17"/>
          <p:cNvSpPr/>
          <p:nvPr/>
        </p:nvSpPr>
        <p:spPr>
          <a:xfrm>
            <a:off x="3374136" y="1691640"/>
            <a:ext cx="2596896" cy="201168"/>
          </a:xfrm>
          <a:prstGeom prst="rect">
            <a:avLst/>
          </a:prstGeom>
          <a:noFill/>
          <a:ln/>
        </p:spPr>
        <p:txBody>
          <a:bodyPr wrap="square" lIns="0" tIns="0" rIns="0" bIns="0" rtlCol="0" anchor="ctr"/>
          <a:lstStyle/>
          <a:p>
            <a:pPr marL="0" indent="0">
              <a:buNone/>
            </a:pPr>
            <a:r>
              <a:rPr lang="en-US" sz="1000" b="1" dirty="0">
                <a:solidFill>
                  <a:srgbClr val="0096B7"/>
                </a:solidFill>
                <a:latin typeface="Calibri" pitchFamily="34" charset="0"/>
                <a:ea typeface="Calibri" pitchFamily="34" charset="-122"/>
                <a:cs typeface="Calibri" pitchFamily="34" charset="-120"/>
              </a:rPr>
              <a:t>Hardware</a:t>
            </a:r>
            <a:endParaRPr lang="en-US" sz="1000" dirty="0"/>
          </a:p>
        </p:txBody>
      </p:sp>
      <p:sp>
        <p:nvSpPr>
          <p:cNvPr id="20" name="Text 18"/>
          <p:cNvSpPr/>
          <p:nvPr/>
        </p:nvSpPr>
        <p:spPr>
          <a:xfrm>
            <a:off x="3374136" y="1874520"/>
            <a:ext cx="2596896" cy="3200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GTX 1660 Ti 6 GB · i7-10750H · 24 GB DDR4</a:t>
            </a:r>
            <a:endParaRPr lang="en-US" sz="1000" dirty="0"/>
          </a:p>
        </p:txBody>
      </p:sp>
      <p:sp>
        <p:nvSpPr>
          <p:cNvPr id="21" name="Text 19"/>
          <p:cNvSpPr/>
          <p:nvPr/>
        </p:nvSpPr>
        <p:spPr>
          <a:xfrm>
            <a:off x="3374136" y="2267712"/>
            <a:ext cx="2596896" cy="201168"/>
          </a:xfrm>
          <a:prstGeom prst="rect">
            <a:avLst/>
          </a:prstGeom>
          <a:noFill/>
          <a:ln/>
        </p:spPr>
        <p:txBody>
          <a:bodyPr wrap="square" lIns="0" tIns="0" rIns="0" bIns="0" rtlCol="0" anchor="ctr"/>
          <a:lstStyle/>
          <a:p>
            <a:pPr marL="0" indent="0">
              <a:buNone/>
            </a:pPr>
            <a:r>
              <a:rPr lang="en-US" sz="1000" b="1" dirty="0">
                <a:solidFill>
                  <a:srgbClr val="0096B7"/>
                </a:solidFill>
                <a:latin typeface="Calibri" pitchFamily="34" charset="0"/>
                <a:ea typeface="Calibri" pitchFamily="34" charset="-122"/>
                <a:cs typeface="Calibri" pitchFamily="34" charset="-120"/>
              </a:rPr>
              <a:t>Network</a:t>
            </a:r>
            <a:endParaRPr lang="en-US" sz="1000" dirty="0"/>
          </a:p>
        </p:txBody>
      </p:sp>
      <p:sp>
        <p:nvSpPr>
          <p:cNvPr id="22" name="Text 20"/>
          <p:cNvSpPr/>
          <p:nvPr/>
        </p:nvSpPr>
        <p:spPr>
          <a:xfrm>
            <a:off x="3374136" y="2450592"/>
            <a:ext cx="2596896" cy="3200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Home LAN · ≤ 1 ms to Node A</a:t>
            </a:r>
            <a:endParaRPr lang="en-US" sz="1000" dirty="0"/>
          </a:p>
        </p:txBody>
      </p:sp>
      <p:sp>
        <p:nvSpPr>
          <p:cNvPr id="23" name="Text 21"/>
          <p:cNvSpPr/>
          <p:nvPr/>
        </p:nvSpPr>
        <p:spPr>
          <a:xfrm>
            <a:off x="3374136" y="2834640"/>
            <a:ext cx="2596896" cy="201168"/>
          </a:xfrm>
          <a:prstGeom prst="rect">
            <a:avLst/>
          </a:prstGeom>
          <a:noFill/>
          <a:ln/>
        </p:spPr>
        <p:txBody>
          <a:bodyPr wrap="square" lIns="0" tIns="0" rIns="0" bIns="0" rtlCol="0" anchor="ctr"/>
          <a:lstStyle/>
          <a:p>
            <a:pPr marL="0" indent="0">
              <a:buNone/>
            </a:pPr>
            <a:r>
              <a:rPr lang="en-US" sz="1000" b="1" dirty="0">
                <a:solidFill>
                  <a:srgbClr val="0096B7"/>
                </a:solidFill>
                <a:latin typeface="Calibri" pitchFamily="34" charset="0"/>
                <a:ea typeface="Calibri" pitchFamily="34" charset="-122"/>
                <a:cs typeface="Calibri" pitchFamily="34" charset="-120"/>
              </a:rPr>
              <a:t>Software Stack</a:t>
            </a:r>
            <a:endParaRPr lang="en-US" sz="1000" dirty="0"/>
          </a:p>
        </p:txBody>
      </p:sp>
      <p:sp>
        <p:nvSpPr>
          <p:cNvPr id="24" name="Text 22"/>
          <p:cNvSpPr/>
          <p:nvPr/>
        </p:nvSpPr>
        <p:spPr>
          <a:xfrm>
            <a:off x="3374136" y="3035808"/>
            <a:ext cx="2596896" cy="1600200"/>
          </a:xfrm>
          <a:prstGeom prst="rect">
            <a:avLst/>
          </a:prstGeom>
          <a:noFill/>
          <a:ln/>
        </p:spPr>
        <p:txBody>
          <a:bodyPr wrap="square" rtlCol="0" anchor="ctr"/>
          <a:lstStyle/>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gRPC Server (port 50051)</a:t>
            </a:r>
            <a:endParaRPr lang="en-US" sz="1050" dirty="0"/>
          </a:p>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BGE-M3 FP16 Embeddings</a:t>
            </a:r>
            <a:endParaRPr lang="en-US" sz="1050" dirty="0"/>
          </a:p>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Qdrant Vector DB</a:t>
            </a:r>
            <a:endParaRPr lang="en-US" sz="1050" dirty="0"/>
          </a:p>
        </p:txBody>
      </p:sp>
      <p:sp>
        <p:nvSpPr>
          <p:cNvPr id="25" name="Shape 23"/>
          <p:cNvSpPr/>
          <p:nvPr/>
        </p:nvSpPr>
        <p:spPr>
          <a:xfrm>
            <a:off x="6144768" y="932688"/>
            <a:ext cx="2816352"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6144768" y="932688"/>
            <a:ext cx="2816352" cy="658368"/>
          </a:xfrm>
          <a:prstGeom prst="rect">
            <a:avLst/>
          </a:prstGeom>
          <a:solidFill>
            <a:srgbClr val="1C4E80"/>
          </a:solidFill>
          <a:ln w="12700">
            <a:solidFill>
              <a:srgbClr val="1C4E80"/>
            </a:solidFill>
            <a:prstDash val="solid"/>
          </a:ln>
        </p:spPr>
        <p:txBody>
          <a:bodyPr/>
          <a:lstStyle/>
          <a:p>
            <a:endParaRPr lang="en-US"/>
          </a:p>
        </p:txBody>
      </p:sp>
      <p:sp>
        <p:nvSpPr>
          <p:cNvPr id="27" name="Text 25"/>
          <p:cNvSpPr/>
          <p:nvPr/>
        </p:nvSpPr>
        <p:spPr>
          <a:xfrm>
            <a:off x="6236208" y="960120"/>
            <a:ext cx="2633472"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NODE A</a:t>
            </a:r>
            <a:endParaRPr lang="en-US" sz="1400" dirty="0"/>
          </a:p>
        </p:txBody>
      </p:sp>
      <p:sp>
        <p:nvSpPr>
          <p:cNvPr id="28" name="Text 26"/>
          <p:cNvSpPr/>
          <p:nvPr/>
        </p:nvSpPr>
        <p:spPr>
          <a:xfrm>
            <a:off x="6236208" y="1243584"/>
            <a:ext cx="2633472"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Core: Generation &amp; Sync</a:t>
            </a:r>
            <a:endParaRPr lang="en-US" sz="1000" dirty="0"/>
          </a:p>
        </p:txBody>
      </p:sp>
      <p:sp>
        <p:nvSpPr>
          <p:cNvPr id="29" name="Text 27"/>
          <p:cNvSpPr/>
          <p:nvPr/>
        </p:nvSpPr>
        <p:spPr>
          <a:xfrm>
            <a:off x="6254496" y="1691640"/>
            <a:ext cx="2596896" cy="201168"/>
          </a:xfrm>
          <a:prstGeom prst="rect">
            <a:avLst/>
          </a:prstGeom>
          <a:noFill/>
          <a:ln/>
        </p:spPr>
        <p:txBody>
          <a:bodyPr wrap="square" lIns="0" tIns="0" rIns="0" bIns="0" rtlCol="0" anchor="ctr"/>
          <a:lstStyle/>
          <a:p>
            <a:pPr marL="0" indent="0">
              <a:buNone/>
            </a:pPr>
            <a:r>
              <a:rPr lang="en-US" sz="1000" b="1" dirty="0">
                <a:solidFill>
                  <a:srgbClr val="1C4E80"/>
                </a:solidFill>
                <a:latin typeface="Calibri" pitchFamily="34" charset="0"/>
                <a:ea typeface="Calibri" pitchFamily="34" charset="-122"/>
                <a:cs typeface="Calibri" pitchFamily="34" charset="-120"/>
              </a:rPr>
              <a:t>Hardware</a:t>
            </a:r>
            <a:endParaRPr lang="en-US" sz="1000" dirty="0"/>
          </a:p>
        </p:txBody>
      </p:sp>
      <p:sp>
        <p:nvSpPr>
          <p:cNvPr id="30" name="Text 28"/>
          <p:cNvSpPr/>
          <p:nvPr/>
        </p:nvSpPr>
        <p:spPr>
          <a:xfrm>
            <a:off x="6254496" y="1874520"/>
            <a:ext cx="2596896" cy="3200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RTX 3080 10 GB · R7 7700 · 32 GB DDR5</a:t>
            </a:r>
            <a:endParaRPr lang="en-US" sz="1000" dirty="0"/>
          </a:p>
        </p:txBody>
      </p:sp>
      <p:sp>
        <p:nvSpPr>
          <p:cNvPr id="31" name="Text 29"/>
          <p:cNvSpPr/>
          <p:nvPr/>
        </p:nvSpPr>
        <p:spPr>
          <a:xfrm>
            <a:off x="6254496" y="2267712"/>
            <a:ext cx="2596896" cy="201168"/>
          </a:xfrm>
          <a:prstGeom prst="rect">
            <a:avLst/>
          </a:prstGeom>
          <a:noFill/>
          <a:ln/>
        </p:spPr>
        <p:txBody>
          <a:bodyPr wrap="square" lIns="0" tIns="0" rIns="0" bIns="0" rtlCol="0" anchor="ctr"/>
          <a:lstStyle/>
          <a:p>
            <a:pPr marL="0" indent="0">
              <a:buNone/>
            </a:pPr>
            <a:r>
              <a:rPr lang="en-US" sz="1000" b="1" dirty="0">
                <a:solidFill>
                  <a:srgbClr val="1C4E80"/>
                </a:solidFill>
                <a:latin typeface="Calibri" pitchFamily="34" charset="0"/>
                <a:ea typeface="Calibri" pitchFamily="34" charset="-122"/>
                <a:cs typeface="Calibri" pitchFamily="34" charset="-120"/>
              </a:rPr>
              <a:t>Network</a:t>
            </a:r>
            <a:endParaRPr lang="en-US" sz="1000" dirty="0"/>
          </a:p>
        </p:txBody>
      </p:sp>
      <p:sp>
        <p:nvSpPr>
          <p:cNvPr id="32" name="Text 30"/>
          <p:cNvSpPr/>
          <p:nvPr/>
        </p:nvSpPr>
        <p:spPr>
          <a:xfrm>
            <a:off x="6254496" y="2450592"/>
            <a:ext cx="2596896" cy="3200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Home LAN · Sync Controller</a:t>
            </a:r>
            <a:endParaRPr lang="en-US" sz="1000" dirty="0"/>
          </a:p>
        </p:txBody>
      </p:sp>
      <p:sp>
        <p:nvSpPr>
          <p:cNvPr id="33" name="Text 31"/>
          <p:cNvSpPr/>
          <p:nvPr/>
        </p:nvSpPr>
        <p:spPr>
          <a:xfrm>
            <a:off x="6254496" y="2834640"/>
            <a:ext cx="2596896" cy="201168"/>
          </a:xfrm>
          <a:prstGeom prst="rect">
            <a:avLst/>
          </a:prstGeom>
          <a:noFill/>
          <a:ln/>
        </p:spPr>
        <p:txBody>
          <a:bodyPr wrap="square" lIns="0" tIns="0" rIns="0" bIns="0" rtlCol="0" anchor="ctr"/>
          <a:lstStyle/>
          <a:p>
            <a:pPr marL="0" indent="0">
              <a:buNone/>
            </a:pPr>
            <a:r>
              <a:rPr lang="en-US" sz="1000" b="1" dirty="0">
                <a:solidFill>
                  <a:srgbClr val="1C4E80"/>
                </a:solidFill>
                <a:latin typeface="Calibri" pitchFamily="34" charset="0"/>
                <a:ea typeface="Calibri" pitchFamily="34" charset="-122"/>
                <a:cs typeface="Calibri" pitchFamily="34" charset="-120"/>
              </a:rPr>
              <a:t>Software Stack</a:t>
            </a:r>
            <a:endParaRPr lang="en-US" sz="1000" dirty="0"/>
          </a:p>
        </p:txBody>
      </p:sp>
      <p:sp>
        <p:nvSpPr>
          <p:cNvPr id="34" name="Text 32"/>
          <p:cNvSpPr/>
          <p:nvPr/>
        </p:nvSpPr>
        <p:spPr>
          <a:xfrm>
            <a:off x="6254496" y="3035808"/>
            <a:ext cx="2596896" cy="1600200"/>
          </a:xfrm>
          <a:prstGeom prst="rect">
            <a:avLst/>
          </a:prstGeom>
          <a:noFill/>
          <a:ln/>
        </p:spPr>
        <p:txBody>
          <a:bodyPr wrap="square" rtlCol="0" anchor="ctr"/>
          <a:lstStyle/>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vLLM + Llama-3-8B AWQ</a:t>
            </a:r>
            <a:endParaRPr lang="en-US" sz="1050" dirty="0"/>
          </a:p>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RRF Fusion Engine</a:t>
            </a:r>
            <a:endParaRPr lang="en-US" sz="1050" dirty="0"/>
          </a:p>
          <a:p>
            <a:pPr marL="342900" indent="-342900">
              <a:buSzPct val="100000"/>
              <a:buChar char="•"/>
            </a:pPr>
            <a:r>
              <a:rPr lang="en-US" sz="1050" dirty="0">
                <a:solidFill>
                  <a:srgbClr val="1A202C"/>
                </a:solidFill>
                <a:latin typeface="Calibri" pitchFamily="34" charset="0"/>
                <a:ea typeface="Calibri" pitchFamily="34" charset="-122"/>
                <a:cs typeface="Calibri" pitchFamily="34" charset="-120"/>
              </a:rPr>
              <a:t>Active Inference Fallback</a:t>
            </a:r>
            <a:endParaRPr lang="en-US" sz="1050" dirty="0"/>
          </a:p>
        </p:txBody>
      </p:sp>
      <p:sp>
        <p:nvSpPr>
          <p:cNvPr id="35" name="Shape 33"/>
          <p:cNvSpPr/>
          <p:nvPr/>
        </p:nvSpPr>
        <p:spPr>
          <a:xfrm>
            <a:off x="3374136" y="3046183"/>
            <a:ext cx="521208" cy="0"/>
          </a:xfrm>
          <a:prstGeom prst="line">
            <a:avLst/>
          </a:prstGeom>
          <a:noFill/>
          <a:ln w="25400">
            <a:solidFill>
              <a:srgbClr val="0096B7"/>
            </a:solidFill>
            <a:prstDash val="sysDash"/>
          </a:ln>
        </p:spPr>
        <p:txBody>
          <a:bodyPr/>
          <a:lstStyle/>
          <a:p>
            <a:endParaRPr lang="en-US"/>
          </a:p>
        </p:txBody>
      </p:sp>
      <p:sp>
        <p:nvSpPr>
          <p:cNvPr id="36" name="Shape 34"/>
          <p:cNvSpPr/>
          <p:nvPr/>
        </p:nvSpPr>
        <p:spPr>
          <a:xfrm>
            <a:off x="6254496" y="3046183"/>
            <a:ext cx="521208" cy="0"/>
          </a:xfrm>
          <a:prstGeom prst="line">
            <a:avLst/>
          </a:prstGeom>
          <a:noFill/>
          <a:ln w="25400">
            <a:solidFill>
              <a:srgbClr val="1C4E80"/>
            </a:solidFill>
            <a:prstDash val="sysDash"/>
          </a:ln>
        </p:spPr>
        <p:txBody>
          <a:bodyPr/>
          <a:lstStyle/>
          <a:p>
            <a:endParaRPr lang="en-US"/>
          </a:p>
        </p:txBody>
      </p:sp>
      <p:sp>
        <p:nvSpPr>
          <p:cNvPr id="37" name="Text 35"/>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5FA"/>
        </a:solidFill>
        <a:effectLst/>
      </p:bgPr>
    </p:bg>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0A824138-DA85-98AA-2821-5E1A4445FA5C}"/>
              </a:ext>
            </a:extLst>
          </p:cNvPr>
          <p:cNvPicPr>
            <a:picLocks noChangeAspect="1"/>
          </p:cNvPicPr>
          <p:nvPr/>
        </p:nvPicPr>
        <p:blipFill>
          <a:blip r:embed="rId3"/>
          <a:stretch>
            <a:fillRect/>
          </a:stretch>
        </p:blipFill>
        <p:spPr>
          <a:xfrm>
            <a:off x="382465" y="0"/>
            <a:ext cx="8141677" cy="4557440"/>
          </a:xfrm>
          <a:prstGeom prst="rect">
            <a:avLst/>
          </a:prstGeom>
        </p:spPr>
      </p:pic>
      <p:sp>
        <p:nvSpPr>
          <p:cNvPr id="47" name="Rectangle 46">
            <a:extLst>
              <a:ext uri="{FF2B5EF4-FFF2-40B4-BE49-F238E27FC236}">
                <a16:creationId xmlns:a16="http://schemas.microsoft.com/office/drawing/2014/main" id="{AF8F7EE4-19E9-4469-4956-45A0C4CE3D79}"/>
              </a:ext>
            </a:extLst>
          </p:cNvPr>
          <p:cNvSpPr/>
          <p:nvPr/>
        </p:nvSpPr>
        <p:spPr>
          <a:xfrm>
            <a:off x="3472962" y="4448908"/>
            <a:ext cx="1916723" cy="108532"/>
          </a:xfrm>
          <a:prstGeom prst="rect">
            <a:avLst/>
          </a:prstGeom>
          <a:solidFill>
            <a:srgbClr val="FFE5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D1AC6D7D-B633-EECA-B90C-EB31DEFDB7CD}"/>
              </a:ext>
            </a:extLst>
          </p:cNvPr>
          <p:cNvPicPr>
            <a:picLocks noChangeAspect="1"/>
          </p:cNvPicPr>
          <p:nvPr/>
        </p:nvPicPr>
        <p:blipFill>
          <a:blip r:embed="rId4"/>
          <a:stretch>
            <a:fillRect/>
          </a:stretch>
        </p:blipFill>
        <p:spPr>
          <a:xfrm>
            <a:off x="0" y="0"/>
            <a:ext cx="9144000" cy="4987636"/>
          </a:xfrm>
          <a:prstGeom prst="rect">
            <a:avLst/>
          </a:prstGeom>
        </p:spPr>
      </p:pic>
      <p:sp>
        <p:nvSpPr>
          <p:cNvPr id="50" name="Rectangle 49">
            <a:extLst>
              <a:ext uri="{FF2B5EF4-FFF2-40B4-BE49-F238E27FC236}">
                <a16:creationId xmlns:a16="http://schemas.microsoft.com/office/drawing/2014/main" id="{8402248E-E268-8701-396C-6520ECBB23C8}"/>
              </a:ext>
            </a:extLst>
          </p:cNvPr>
          <p:cNvSpPr/>
          <p:nvPr/>
        </p:nvSpPr>
        <p:spPr>
          <a:xfrm>
            <a:off x="2241550" y="1517650"/>
            <a:ext cx="203200" cy="2413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1153AB7-F5C6-CEB7-7681-22FC80FBD76E}"/>
              </a:ext>
            </a:extLst>
          </p:cNvPr>
          <p:cNvSpPr/>
          <p:nvPr/>
        </p:nvSpPr>
        <p:spPr>
          <a:xfrm>
            <a:off x="3556000" y="1727994"/>
            <a:ext cx="203200" cy="2413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C414959-0784-18E5-5F59-59544E553C80}"/>
              </a:ext>
            </a:extLst>
          </p:cNvPr>
          <p:cNvSpPr/>
          <p:nvPr/>
        </p:nvSpPr>
        <p:spPr>
          <a:xfrm>
            <a:off x="3556000" y="1924050"/>
            <a:ext cx="146050" cy="1651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52BEBCB7-B6A1-F699-FCE2-7728ADF20F07}"/>
              </a:ext>
            </a:extLst>
          </p:cNvPr>
          <p:cNvSpPr/>
          <p:nvPr/>
        </p:nvSpPr>
        <p:spPr>
          <a:xfrm>
            <a:off x="3797300" y="1727994"/>
            <a:ext cx="203200" cy="2413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D5D857A-2125-1048-610A-795C8878628C}"/>
              </a:ext>
            </a:extLst>
          </p:cNvPr>
          <p:cNvSpPr/>
          <p:nvPr/>
        </p:nvSpPr>
        <p:spPr>
          <a:xfrm>
            <a:off x="3854450" y="1924050"/>
            <a:ext cx="146050" cy="1651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A9D1955F-C9FF-6A70-CA64-4D9DE7060F12}"/>
              </a:ext>
            </a:extLst>
          </p:cNvPr>
          <p:cNvSpPr/>
          <p:nvPr/>
        </p:nvSpPr>
        <p:spPr>
          <a:xfrm>
            <a:off x="3825875" y="1547416"/>
            <a:ext cx="146050" cy="1651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Connector: Elbow 58">
            <a:extLst>
              <a:ext uri="{FF2B5EF4-FFF2-40B4-BE49-F238E27FC236}">
                <a16:creationId xmlns:a16="http://schemas.microsoft.com/office/drawing/2014/main" id="{0D8D1C3D-0153-325D-7EE0-7CBD50BC7F10}"/>
              </a:ext>
            </a:extLst>
          </p:cNvPr>
          <p:cNvCxnSpPr>
            <a:cxnSpLocks/>
          </p:cNvCxnSpPr>
          <p:nvPr/>
        </p:nvCxnSpPr>
        <p:spPr>
          <a:xfrm rot="10800000" flipV="1">
            <a:off x="1328420" y="1758949"/>
            <a:ext cx="2227580" cy="1622424"/>
          </a:xfrm>
          <a:prstGeom prst="bentConnector3">
            <a:avLst>
              <a:gd name="adj1" fmla="val 1000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4" name="Text 15">
            <a:extLst>
              <a:ext uri="{FF2B5EF4-FFF2-40B4-BE49-F238E27FC236}">
                <a16:creationId xmlns:a16="http://schemas.microsoft.com/office/drawing/2014/main" id="{231F29C4-2517-A64F-D962-589139888EB5}"/>
              </a:ext>
            </a:extLst>
          </p:cNvPr>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Challenges Faced During Implementation</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11480" y="932688"/>
            <a:ext cx="4114800" cy="4023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11480" y="932688"/>
            <a:ext cx="4114800" cy="594360"/>
          </a:xfrm>
          <a:prstGeom prst="rect">
            <a:avLst/>
          </a:prstGeom>
          <a:solidFill>
            <a:srgbClr val="0096B7"/>
          </a:solidFill>
          <a:ln w="12700">
            <a:solidFill>
              <a:srgbClr val="0096B7"/>
            </a:solidFill>
            <a:prstDash val="solid"/>
          </a:ln>
        </p:spPr>
        <p:txBody>
          <a:bodyPr/>
          <a:lstStyle/>
          <a:p>
            <a:endParaRPr lang="en-US"/>
          </a:p>
        </p:txBody>
      </p:sp>
      <p:sp>
        <p:nvSpPr>
          <p:cNvPr id="7" name="Text 5"/>
          <p:cNvSpPr/>
          <p:nvPr/>
        </p:nvSpPr>
        <p:spPr>
          <a:xfrm>
            <a:off x="548640" y="950976"/>
            <a:ext cx="38404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01  —  GPU Cold-Start Penalty</a:t>
            </a:r>
            <a:endParaRPr lang="en-US" sz="1300" dirty="0"/>
          </a:p>
        </p:txBody>
      </p:sp>
      <p:sp>
        <p:nvSpPr>
          <p:cNvPr id="8" name="Shape 6"/>
          <p:cNvSpPr/>
          <p:nvPr/>
        </p:nvSpPr>
        <p:spPr>
          <a:xfrm>
            <a:off x="548640" y="1664208"/>
            <a:ext cx="777240" cy="256032"/>
          </a:xfrm>
          <a:prstGeom prst="rect">
            <a:avLst/>
          </a:prstGeom>
          <a:solidFill>
            <a:srgbClr val="FEE2E2"/>
          </a:solidFill>
          <a:ln w="12700">
            <a:solidFill>
              <a:srgbClr val="FCA5A5"/>
            </a:solidFill>
            <a:prstDash val="solid"/>
          </a:ln>
        </p:spPr>
        <p:txBody>
          <a:bodyPr/>
          <a:lstStyle/>
          <a:p>
            <a:endParaRPr lang="en-US"/>
          </a:p>
        </p:txBody>
      </p:sp>
      <p:sp>
        <p:nvSpPr>
          <p:cNvPr id="9" name="Text 7"/>
          <p:cNvSpPr/>
          <p:nvPr/>
        </p:nvSpPr>
        <p:spPr>
          <a:xfrm>
            <a:off x="548640" y="1664208"/>
            <a:ext cx="777240" cy="256032"/>
          </a:xfrm>
          <a:prstGeom prst="rect">
            <a:avLst/>
          </a:prstGeom>
          <a:noFill/>
          <a:ln/>
        </p:spPr>
        <p:txBody>
          <a:bodyPr wrap="square" lIns="0" tIns="0" rIns="0" bIns="0" rtlCol="0" anchor="ctr"/>
          <a:lstStyle/>
          <a:p>
            <a:pPr marL="0" indent="0" algn="ctr">
              <a:buNone/>
            </a:pPr>
            <a:r>
              <a:rPr lang="en-US" sz="850" b="1" dirty="0">
                <a:solidFill>
                  <a:srgbClr val="B91C1C"/>
                </a:solidFill>
                <a:latin typeface="Calibri" pitchFamily="34" charset="0"/>
                <a:ea typeface="Calibri" pitchFamily="34" charset="-122"/>
                <a:cs typeface="Calibri" pitchFamily="34" charset="-120"/>
              </a:rPr>
              <a:t>PROBLEM</a:t>
            </a:r>
            <a:endParaRPr lang="en-US" sz="850" dirty="0"/>
          </a:p>
        </p:txBody>
      </p:sp>
      <p:sp>
        <p:nvSpPr>
          <p:cNvPr id="10" name="Text 8"/>
          <p:cNvSpPr/>
          <p:nvPr/>
        </p:nvSpPr>
        <p:spPr>
          <a:xfrm>
            <a:off x="548640" y="1965960"/>
            <a:ext cx="3840480" cy="12344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Problem: PyTorch and CUDA introduce significant JIT compilation overhead on the first forward pass, inflating dense retrieval latency from ~100 ms (warm) to over 700 ms on the very first request — unacceptable for live evaluation.</a:t>
            </a:r>
            <a:endParaRPr lang="en-US" sz="1100" dirty="0"/>
          </a:p>
        </p:txBody>
      </p:sp>
      <p:sp>
        <p:nvSpPr>
          <p:cNvPr id="11" name="Shape 9"/>
          <p:cNvSpPr/>
          <p:nvPr/>
        </p:nvSpPr>
        <p:spPr>
          <a:xfrm>
            <a:off x="548640" y="3273552"/>
            <a:ext cx="777240" cy="256032"/>
          </a:xfrm>
          <a:prstGeom prst="rect">
            <a:avLst/>
          </a:prstGeom>
          <a:solidFill>
            <a:srgbClr val="D1FAE5"/>
          </a:solidFill>
          <a:ln w="12700">
            <a:solidFill>
              <a:srgbClr val="6EE7B7"/>
            </a:solidFill>
            <a:prstDash val="solid"/>
          </a:ln>
        </p:spPr>
        <p:txBody>
          <a:bodyPr/>
          <a:lstStyle/>
          <a:p>
            <a:endParaRPr lang="en-US"/>
          </a:p>
        </p:txBody>
      </p:sp>
      <p:sp>
        <p:nvSpPr>
          <p:cNvPr id="12" name="Text 10"/>
          <p:cNvSpPr/>
          <p:nvPr/>
        </p:nvSpPr>
        <p:spPr>
          <a:xfrm>
            <a:off x="548640" y="3273552"/>
            <a:ext cx="777240" cy="256032"/>
          </a:xfrm>
          <a:prstGeom prst="rect">
            <a:avLst/>
          </a:prstGeom>
          <a:noFill/>
          <a:ln/>
        </p:spPr>
        <p:txBody>
          <a:bodyPr wrap="square" lIns="0" tIns="0" rIns="0" bIns="0" rtlCol="0" anchor="ctr"/>
          <a:lstStyle/>
          <a:p>
            <a:pPr marL="0" indent="0" algn="ctr">
              <a:buNone/>
            </a:pPr>
            <a:r>
              <a:rPr lang="en-US" sz="850" b="1" dirty="0">
                <a:solidFill>
                  <a:srgbClr val="065F46"/>
                </a:solidFill>
                <a:latin typeface="Calibri" pitchFamily="34" charset="0"/>
                <a:ea typeface="Calibri" pitchFamily="34" charset="-122"/>
                <a:cs typeface="Calibri" pitchFamily="34" charset="-120"/>
              </a:rPr>
              <a:t>SOLUTION</a:t>
            </a:r>
            <a:endParaRPr lang="en-US" sz="850" dirty="0"/>
          </a:p>
        </p:txBody>
      </p:sp>
      <p:sp>
        <p:nvSpPr>
          <p:cNvPr id="13" name="Text 11"/>
          <p:cNvSpPr/>
          <p:nvPr/>
        </p:nvSpPr>
        <p:spPr>
          <a:xfrm>
            <a:off x="548640" y="3566160"/>
            <a:ext cx="3840480" cy="12801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Solution: Engineered a blocking GPU warm-up routine that submits a synthetic dummy query to BGE-M3 during Node B server initialisation, before port 50051 is opened to live traffic. All live requests thereafter hit the pre-warmed CUDA path.</a:t>
            </a:r>
            <a:endParaRPr lang="en-US" sz="1100" dirty="0"/>
          </a:p>
        </p:txBody>
      </p:sp>
      <p:sp>
        <p:nvSpPr>
          <p:cNvPr id="14" name="Shape 12"/>
          <p:cNvSpPr/>
          <p:nvPr/>
        </p:nvSpPr>
        <p:spPr>
          <a:xfrm>
            <a:off x="4645152" y="932688"/>
            <a:ext cx="4114800" cy="4023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645152" y="932688"/>
            <a:ext cx="4114800" cy="594360"/>
          </a:xfrm>
          <a:prstGeom prst="rect">
            <a:avLst/>
          </a:prstGeom>
          <a:solidFill>
            <a:srgbClr val="1C4E80"/>
          </a:solidFill>
          <a:ln w="12700">
            <a:solidFill>
              <a:srgbClr val="1C4E80"/>
            </a:solidFill>
            <a:prstDash val="solid"/>
          </a:ln>
        </p:spPr>
        <p:txBody>
          <a:bodyPr/>
          <a:lstStyle/>
          <a:p>
            <a:endParaRPr lang="en-US"/>
          </a:p>
        </p:txBody>
      </p:sp>
      <p:sp>
        <p:nvSpPr>
          <p:cNvPr id="16" name="Text 14"/>
          <p:cNvSpPr/>
          <p:nvPr/>
        </p:nvSpPr>
        <p:spPr>
          <a:xfrm>
            <a:off x="4782312" y="950976"/>
            <a:ext cx="38404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02  —  VRAM Constraint (AWQ Quantization)</a:t>
            </a:r>
            <a:endParaRPr lang="en-US" sz="1300" dirty="0"/>
          </a:p>
        </p:txBody>
      </p:sp>
      <p:sp>
        <p:nvSpPr>
          <p:cNvPr id="17" name="Shape 15"/>
          <p:cNvSpPr/>
          <p:nvPr/>
        </p:nvSpPr>
        <p:spPr>
          <a:xfrm>
            <a:off x="4782312" y="1664208"/>
            <a:ext cx="777240" cy="256032"/>
          </a:xfrm>
          <a:prstGeom prst="rect">
            <a:avLst/>
          </a:prstGeom>
          <a:solidFill>
            <a:srgbClr val="FEE2E2"/>
          </a:solidFill>
          <a:ln w="12700">
            <a:solidFill>
              <a:srgbClr val="FCA5A5"/>
            </a:solidFill>
            <a:prstDash val="solid"/>
          </a:ln>
        </p:spPr>
        <p:txBody>
          <a:bodyPr/>
          <a:lstStyle/>
          <a:p>
            <a:endParaRPr lang="en-US"/>
          </a:p>
        </p:txBody>
      </p:sp>
      <p:sp>
        <p:nvSpPr>
          <p:cNvPr id="18" name="Text 16"/>
          <p:cNvSpPr/>
          <p:nvPr/>
        </p:nvSpPr>
        <p:spPr>
          <a:xfrm>
            <a:off x="4782312" y="1664208"/>
            <a:ext cx="777240" cy="256032"/>
          </a:xfrm>
          <a:prstGeom prst="rect">
            <a:avLst/>
          </a:prstGeom>
          <a:noFill/>
          <a:ln/>
        </p:spPr>
        <p:txBody>
          <a:bodyPr wrap="square" lIns="0" tIns="0" rIns="0" bIns="0" rtlCol="0" anchor="ctr"/>
          <a:lstStyle/>
          <a:p>
            <a:pPr marL="0" indent="0" algn="ctr">
              <a:buNone/>
            </a:pPr>
            <a:r>
              <a:rPr lang="en-US" sz="850" b="1" dirty="0">
                <a:solidFill>
                  <a:srgbClr val="B91C1C"/>
                </a:solidFill>
                <a:latin typeface="Calibri" pitchFamily="34" charset="0"/>
                <a:ea typeface="Calibri" pitchFamily="34" charset="-122"/>
                <a:cs typeface="Calibri" pitchFamily="34" charset="-120"/>
              </a:rPr>
              <a:t>PROBLEM</a:t>
            </a:r>
            <a:endParaRPr lang="en-US" sz="850" dirty="0"/>
          </a:p>
        </p:txBody>
      </p:sp>
      <p:sp>
        <p:nvSpPr>
          <p:cNvPr id="19" name="Text 17"/>
          <p:cNvSpPr/>
          <p:nvPr/>
        </p:nvSpPr>
        <p:spPr>
          <a:xfrm>
            <a:off x="4782312" y="1965960"/>
            <a:ext cx="3840480" cy="12344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Problem: The Llama-3-8B-Instruct model in FP16 requires approximately 16 GB of VRAM. Node A's RTX 3080 has only 10 GB — a 6 GB shortfall that makes direct loading impossible.</a:t>
            </a:r>
            <a:endParaRPr lang="en-US" sz="1100" dirty="0"/>
          </a:p>
        </p:txBody>
      </p:sp>
      <p:sp>
        <p:nvSpPr>
          <p:cNvPr id="20" name="Shape 18"/>
          <p:cNvSpPr/>
          <p:nvPr/>
        </p:nvSpPr>
        <p:spPr>
          <a:xfrm>
            <a:off x="4782312" y="3273552"/>
            <a:ext cx="777240" cy="256032"/>
          </a:xfrm>
          <a:prstGeom prst="rect">
            <a:avLst/>
          </a:prstGeom>
          <a:solidFill>
            <a:srgbClr val="D1FAE5"/>
          </a:solidFill>
          <a:ln w="12700">
            <a:solidFill>
              <a:srgbClr val="6EE7B7"/>
            </a:solidFill>
            <a:prstDash val="solid"/>
          </a:ln>
        </p:spPr>
        <p:txBody>
          <a:bodyPr/>
          <a:lstStyle/>
          <a:p>
            <a:endParaRPr lang="en-US"/>
          </a:p>
        </p:txBody>
      </p:sp>
      <p:sp>
        <p:nvSpPr>
          <p:cNvPr id="21" name="Text 19"/>
          <p:cNvSpPr/>
          <p:nvPr/>
        </p:nvSpPr>
        <p:spPr>
          <a:xfrm>
            <a:off x="4782312" y="3273552"/>
            <a:ext cx="777240" cy="256032"/>
          </a:xfrm>
          <a:prstGeom prst="rect">
            <a:avLst/>
          </a:prstGeom>
          <a:noFill/>
          <a:ln/>
        </p:spPr>
        <p:txBody>
          <a:bodyPr wrap="square" lIns="0" tIns="0" rIns="0" bIns="0" rtlCol="0" anchor="ctr"/>
          <a:lstStyle/>
          <a:p>
            <a:pPr marL="0" indent="0" algn="ctr">
              <a:buNone/>
            </a:pPr>
            <a:r>
              <a:rPr lang="en-US" sz="850" b="1" dirty="0">
                <a:solidFill>
                  <a:srgbClr val="065F46"/>
                </a:solidFill>
                <a:latin typeface="Calibri" pitchFamily="34" charset="0"/>
                <a:ea typeface="Calibri" pitchFamily="34" charset="-122"/>
                <a:cs typeface="Calibri" pitchFamily="34" charset="-120"/>
              </a:rPr>
              <a:t>SOLUTION</a:t>
            </a:r>
            <a:endParaRPr lang="en-US" sz="850" dirty="0"/>
          </a:p>
        </p:txBody>
      </p:sp>
      <p:sp>
        <p:nvSpPr>
          <p:cNvPr id="22" name="Text 20"/>
          <p:cNvSpPr/>
          <p:nvPr/>
        </p:nvSpPr>
        <p:spPr>
          <a:xfrm>
            <a:off x="4782312" y="3566160"/>
            <a:ext cx="3840480" cy="12801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Solution: Applied AWQ (Activation-aware Weight Quantization) with 4-bit precision. AWQ analyzes per-channel activation magnitudes to protect the most salient weights before quantization, preserving model quality better than uniform INT4. Result: 5.34 GB footprint — a 3× compression — leaving 4.66 GB (939 GPU blocks) for the KV-cache.</a:t>
            </a:r>
            <a:endParaRPr lang="en-US" sz="1100" dirty="0"/>
          </a:p>
        </p:txBody>
      </p:sp>
      <p:sp>
        <p:nvSpPr>
          <p:cNvPr id="23" name="Text 21"/>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Baseline Comparison: Sequential vs. Parallel</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11480" y="960120"/>
            <a:ext cx="3931920" cy="2926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11480" y="960120"/>
            <a:ext cx="3931920" cy="502920"/>
          </a:xfrm>
          <a:prstGeom prst="rect">
            <a:avLst/>
          </a:prstGeom>
          <a:solidFill>
            <a:srgbClr val="DC2626"/>
          </a:solidFill>
          <a:ln w="12700">
            <a:solidFill>
              <a:srgbClr val="DC2626"/>
            </a:solidFill>
            <a:prstDash val="solid"/>
          </a:ln>
        </p:spPr>
        <p:txBody>
          <a:bodyPr/>
          <a:lstStyle/>
          <a:p>
            <a:endParaRPr lang="en-US"/>
          </a:p>
        </p:txBody>
      </p:sp>
      <p:sp>
        <p:nvSpPr>
          <p:cNvPr id="7" name="Text 5"/>
          <p:cNvSpPr/>
          <p:nvPr/>
        </p:nvSpPr>
        <p:spPr>
          <a:xfrm>
            <a:off x="502920" y="978408"/>
            <a:ext cx="37490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BASELINE — Sequential</a:t>
            </a:r>
            <a:endParaRPr lang="en-US" sz="1300" dirty="0"/>
          </a:p>
        </p:txBody>
      </p:sp>
      <p:sp>
        <p:nvSpPr>
          <p:cNvPr id="8" name="Text 6"/>
          <p:cNvSpPr/>
          <p:nvPr/>
        </p:nvSpPr>
        <p:spPr>
          <a:xfrm>
            <a:off x="502920" y="1572768"/>
            <a:ext cx="3749040" cy="457200"/>
          </a:xfrm>
          <a:prstGeom prst="rect">
            <a:avLst/>
          </a:prstGeom>
          <a:noFill/>
          <a:ln/>
        </p:spPr>
        <p:txBody>
          <a:bodyPr wrap="square" rtlCol="0" anchor="ctr"/>
          <a:lstStyle/>
          <a:p>
            <a:pPr marL="0" indent="0" algn="ctr">
              <a:buNone/>
            </a:pPr>
            <a:r>
              <a:rPr lang="en-US" sz="1300" b="1" i="1" dirty="0">
                <a:solidFill>
                  <a:srgbClr val="DC2626"/>
                </a:solidFill>
                <a:latin typeface="Calibri" pitchFamily="34" charset="0"/>
                <a:ea typeface="Calibri" pitchFamily="34" charset="-122"/>
                <a:cs typeface="Calibri" pitchFamily="34" charset="-120"/>
              </a:rPr>
              <a:t>T_sequential  =  T_sparse  +  T_WAN  +  T_dense</a:t>
            </a:r>
            <a:endParaRPr lang="en-US" sz="1300" dirty="0"/>
          </a:p>
        </p:txBody>
      </p:sp>
      <p:sp>
        <p:nvSpPr>
          <p:cNvPr id="9" name="Text 7"/>
          <p:cNvSpPr/>
          <p:nvPr/>
        </p:nvSpPr>
        <p:spPr>
          <a:xfrm>
            <a:off x="548640" y="2084832"/>
            <a:ext cx="3703320" cy="1691640"/>
          </a:xfrm>
          <a:prstGeom prst="rect">
            <a:avLst/>
          </a:prstGeom>
          <a:noFill/>
          <a:ln/>
        </p:spPr>
        <p:txBody>
          <a:bodyPr wrap="square"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① Run BM25 sparse search  →  wait ~0.7 ms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② Only then dispatch to Node B  →  wait T_WAN ≈ 20 ms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③ BGE-M3 dense compute  →  wait ~65–200 ms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④ Begin LLM generation</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Total: additive sum of all delays — every stage queued</a:t>
            </a:r>
            <a:endParaRPr lang="en-US" sz="1050" dirty="0"/>
          </a:p>
        </p:txBody>
      </p:sp>
      <p:sp>
        <p:nvSpPr>
          <p:cNvPr id="10" name="Shape 8"/>
          <p:cNvSpPr/>
          <p:nvPr/>
        </p:nvSpPr>
        <p:spPr>
          <a:xfrm>
            <a:off x="4572000" y="960120"/>
            <a:ext cx="4160520" cy="2926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572000" y="960120"/>
            <a:ext cx="4160520" cy="502920"/>
          </a:xfrm>
          <a:prstGeom prst="rect">
            <a:avLst/>
          </a:prstGeom>
          <a:solidFill>
            <a:srgbClr val="10B981"/>
          </a:solidFill>
          <a:ln w="12700">
            <a:solidFill>
              <a:srgbClr val="10B981"/>
            </a:solidFill>
            <a:prstDash val="solid"/>
          </a:ln>
        </p:spPr>
        <p:txBody>
          <a:bodyPr/>
          <a:lstStyle/>
          <a:p>
            <a:endParaRPr lang="en-US"/>
          </a:p>
        </p:txBody>
      </p:sp>
      <p:sp>
        <p:nvSpPr>
          <p:cNvPr id="12" name="Text 10"/>
          <p:cNvSpPr/>
          <p:nvPr/>
        </p:nvSpPr>
        <p:spPr>
          <a:xfrm>
            <a:off x="4663440" y="978408"/>
            <a:ext cx="39776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PROPOSED — Parallel</a:t>
            </a:r>
            <a:endParaRPr lang="en-US" sz="1300" dirty="0"/>
          </a:p>
        </p:txBody>
      </p:sp>
      <p:sp>
        <p:nvSpPr>
          <p:cNvPr id="13" name="Text 11"/>
          <p:cNvSpPr/>
          <p:nvPr/>
        </p:nvSpPr>
        <p:spPr>
          <a:xfrm>
            <a:off x="4663440" y="1572768"/>
            <a:ext cx="3977640" cy="457200"/>
          </a:xfrm>
          <a:prstGeom prst="rect">
            <a:avLst/>
          </a:prstGeom>
          <a:noFill/>
          <a:ln/>
        </p:spPr>
        <p:txBody>
          <a:bodyPr wrap="square" rtlCol="0" anchor="ctr"/>
          <a:lstStyle/>
          <a:p>
            <a:pPr marL="0" indent="0" algn="ctr">
              <a:buNone/>
            </a:pPr>
            <a:r>
              <a:rPr lang="en-US" sz="1300" b="1" i="1" dirty="0">
                <a:solidFill>
                  <a:srgbClr val="10B981"/>
                </a:solidFill>
                <a:latin typeface="Calibri" pitchFamily="34" charset="0"/>
                <a:ea typeface="Calibri" pitchFamily="34" charset="-122"/>
                <a:cs typeface="Calibri" pitchFamily="34" charset="-120"/>
              </a:rPr>
              <a:t>T_parallel  =  max ( T_sparse ,  T_WAN + T_dense )</a:t>
            </a:r>
            <a:endParaRPr lang="en-US" sz="1300" dirty="0"/>
          </a:p>
        </p:txBody>
      </p:sp>
      <p:sp>
        <p:nvSpPr>
          <p:cNvPr id="14" name="Text 12"/>
          <p:cNvSpPr/>
          <p:nvPr/>
        </p:nvSpPr>
        <p:spPr>
          <a:xfrm>
            <a:off x="4709160" y="2084832"/>
            <a:ext cx="3886200" cy="1691640"/>
          </a:xfrm>
          <a:prstGeom prst="rect">
            <a:avLst/>
          </a:prstGeom>
          <a:noFill/>
          <a:ln/>
        </p:spPr>
        <p:txBody>
          <a:bodyPr wrap="square"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① Dispatch BM25 + gRPC remote simultaneously</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② Sparse completes in 0.7 ms — sits ready</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③ Dense branch dominates at ~192 ms (critical path)</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④ Node A receives both, fuses via RRF, generates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Fallback: If Node B times out → speculative prefill on sparse context alone (zero user-visible stall)</a:t>
            </a:r>
            <a:endParaRPr lang="en-US" sz="1050" dirty="0"/>
          </a:p>
        </p:txBody>
      </p:sp>
      <p:sp>
        <p:nvSpPr>
          <p:cNvPr id="15" name="Text 13"/>
          <p:cNvSpPr/>
          <p:nvPr/>
        </p:nvSpPr>
        <p:spPr>
          <a:xfrm>
            <a:off x="3977640" y="2148840"/>
            <a:ext cx="548640" cy="548640"/>
          </a:xfrm>
          <a:prstGeom prst="rect">
            <a:avLst/>
          </a:prstGeom>
          <a:noFill/>
          <a:ln/>
        </p:spPr>
        <p:txBody>
          <a:bodyPr wrap="square" rtlCol="0" anchor="ctr"/>
          <a:lstStyle/>
          <a:p>
            <a:pPr marL="0" indent="0" algn="ctr">
              <a:buNone/>
            </a:pPr>
            <a:r>
              <a:rPr lang="en-US" sz="2000" b="1" dirty="0">
                <a:solidFill>
                  <a:srgbClr val="94A3B8"/>
                </a:solidFill>
                <a:latin typeface="Calibri" pitchFamily="34" charset="0"/>
                <a:ea typeface="Calibri" pitchFamily="34" charset="-122"/>
                <a:cs typeface="Calibri" pitchFamily="34" charset="-120"/>
              </a:rPr>
              <a:t>VS</a:t>
            </a:r>
            <a:endParaRPr lang="en-US" sz="2000" dirty="0"/>
          </a:p>
        </p:txBody>
      </p:sp>
      <p:sp>
        <p:nvSpPr>
          <p:cNvPr id="16" name="Shape 14"/>
          <p:cNvSpPr/>
          <p:nvPr/>
        </p:nvSpPr>
        <p:spPr>
          <a:xfrm>
            <a:off x="411480" y="4023360"/>
            <a:ext cx="8321040" cy="822960"/>
          </a:xfrm>
          <a:prstGeom prst="rect">
            <a:avLst/>
          </a:prstGeom>
          <a:solidFill>
            <a:srgbClr val="EFF6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11480" y="4023360"/>
            <a:ext cx="54864" cy="822960"/>
          </a:xfrm>
          <a:prstGeom prst="rect">
            <a:avLst/>
          </a:prstGeom>
          <a:solidFill>
            <a:srgbClr val="0096B7"/>
          </a:solidFill>
          <a:ln w="12700">
            <a:solidFill>
              <a:srgbClr val="0096B7"/>
            </a:solidFill>
            <a:prstDash val="solid"/>
          </a:ln>
        </p:spPr>
        <p:txBody>
          <a:bodyPr/>
          <a:lstStyle/>
          <a:p>
            <a:endParaRPr lang="en-US"/>
          </a:p>
        </p:txBody>
      </p:sp>
      <p:sp>
        <p:nvSpPr>
          <p:cNvPr id="18" name="Text 16"/>
          <p:cNvSpPr/>
          <p:nvPr/>
        </p:nvSpPr>
        <p:spPr>
          <a:xfrm>
            <a:off x="594360" y="4023360"/>
            <a:ext cx="8046720" cy="822960"/>
          </a:xfrm>
          <a:prstGeom prst="rect">
            <a:avLst/>
          </a:prstGeom>
          <a:noFill/>
          <a:ln/>
        </p:spPr>
        <p:txBody>
          <a:bodyPr wrap="square" rtlCol="0" anchor="ctr"/>
          <a:lstStyle/>
          <a:p>
            <a:pPr marL="0" indent="0">
              <a:buNone/>
            </a:pPr>
            <a:r>
              <a:rPr lang="en-US" sz="1150" i="1" dirty="0">
                <a:solidFill>
                  <a:srgbClr val="1C4E80"/>
                </a:solidFill>
                <a:latin typeface="Calibri" pitchFamily="34" charset="0"/>
                <a:ea typeface="Calibri" pitchFamily="34" charset="-122"/>
                <a:cs typeface="Calibri" pitchFamily="34" charset="-120"/>
              </a:rPr>
              <a:t>Empirical Result:  Sparse path contributes 0 ms to user-visible latency.  Edge-TTFT consistently 190–195 ms across 100 WikiQA queries — dominated entirely by the remote dense branch.</a:t>
            </a:r>
            <a:endParaRPr lang="en-US" sz="1150" dirty="0"/>
          </a:p>
        </p:txBody>
      </p:sp>
      <p:sp>
        <p:nvSpPr>
          <p:cNvPr id="19" name="Text 17"/>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Results: Latency &amp; Throughput</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graphicFrame>
        <p:nvGraphicFramePr>
          <p:cNvPr id="5" name="Chart 0"/>
          <p:cNvGraphicFramePr/>
          <p:nvPr/>
        </p:nvGraphicFramePr>
        <p:xfrm>
          <a:off x="411480" y="960120"/>
          <a:ext cx="402336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526280" y="960120"/>
          <a:ext cx="4251960" cy="21031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3127248"/>
          <a:ext cx="8366760" cy="1706880"/>
        </p:xfrm>
        <a:graphic>
          <a:graphicData uri="http://schemas.openxmlformats.org/drawingml/2006/table">
            <a:tbl>
              <a:tblPr/>
              <a:tblGrid>
                <a:gridCol w="4183380">
                  <a:extLst>
                    <a:ext uri="{9D8B030D-6E8A-4147-A177-3AD203B41FA5}">
                      <a16:colId xmlns:a16="http://schemas.microsoft.com/office/drawing/2014/main" val="20000"/>
                    </a:ext>
                  </a:extLst>
                </a:gridCol>
                <a:gridCol w="4183380">
                  <a:extLst>
                    <a:ext uri="{9D8B030D-6E8A-4147-A177-3AD203B41FA5}">
                      <a16:colId xmlns:a16="http://schemas.microsoft.com/office/drawing/2014/main" val="20001"/>
                    </a:ext>
                  </a:extLst>
                </a:gridCol>
              </a:tblGrid>
              <a:tr h="18288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4E8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Observed Value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4E80"/>
                    </a:solidFill>
                  </a:tcPr>
                </a:tc>
                <a:extLst>
                  <a:ext uri="{0D108BD9-81ED-4DB2-BD59-A6C34878D82A}">
                    <a16:rowId xmlns:a16="http://schemas.microsoft.com/office/drawing/2014/main" val="10000"/>
                  </a:ext>
                </a:extLst>
              </a:tr>
              <a:tr h="18288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BM25 Sparse Retrieval (T_sparse)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0.6 – 0.8 ms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18288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Dense Retrieval Steady State (T_dense)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65 – 200 ms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18288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Dense Retrieval — First Query (cold GPU)</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790.6 ms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Edge-TTFT (user-visible, 100 queries)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190 – 195 ms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18288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T_sparse contribution to critical path</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0 ms  (fully masked)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182880">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AWQ VRAM footprint · Generation throughput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A202C"/>
                          </a:solidFill>
                          <a:latin typeface="Calibri" pitchFamily="34" charset="0"/>
                          <a:ea typeface="Calibri" pitchFamily="34" charset="-122"/>
                          <a:cs typeface="Calibri" pitchFamily="34" charset="-120"/>
                        </a:rPr>
                        <a:t>5.34 GB  ·  65 – 82 tok/s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3"/>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38404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48640" y="256032"/>
            <a:ext cx="8229600" cy="502920"/>
          </a:xfrm>
          <a:prstGeom prst="rect">
            <a:avLst/>
          </a:prstGeom>
          <a:noFill/>
          <a:ln/>
        </p:spPr>
        <p:txBody>
          <a:bodyPr wrap="square" lIns="0" tIns="0" rIns="0" bIns="0" rtlCol="0" anchor="ctr"/>
          <a:lstStyle/>
          <a:p>
            <a:pPr marL="0" indent="0">
              <a:buNone/>
            </a:pPr>
            <a:r>
              <a:rPr lang="en-US" sz="2600" b="1" dirty="0">
                <a:solidFill>
                  <a:srgbClr val="1C4E80"/>
                </a:solidFill>
                <a:latin typeface="Calibri" pitchFamily="34" charset="0"/>
                <a:ea typeface="Calibri" pitchFamily="34" charset="-122"/>
                <a:cs typeface="Calibri" pitchFamily="34" charset="-120"/>
              </a:rPr>
              <a:t>Results: WikiQA End-to-End Accuracy</a:t>
            </a:r>
            <a:endParaRPr lang="en-US" sz="2600" dirty="0"/>
          </a:p>
        </p:txBody>
      </p:sp>
      <p:sp>
        <p:nvSpPr>
          <p:cNvPr id="4" name="Shape 2"/>
          <p:cNvSpPr/>
          <p:nvPr/>
        </p:nvSpPr>
        <p:spPr>
          <a:xfrm>
            <a:off x="411480" y="804672"/>
            <a:ext cx="8321040" cy="18288"/>
          </a:xfrm>
          <a:prstGeom prst="rect">
            <a:avLst/>
          </a:prstGeom>
          <a:solidFill>
            <a:srgbClr val="E2E8F0"/>
          </a:solidFill>
          <a:ln w="12700">
            <a:solidFill>
              <a:srgbClr val="E2E8F0"/>
            </a:solidFill>
            <a:prstDash val="solid"/>
          </a:ln>
        </p:spPr>
        <p:txBody>
          <a:bodyPr/>
          <a:lstStyle/>
          <a:p>
            <a:endParaRPr lang="en-US"/>
          </a:p>
        </p:txBody>
      </p:sp>
      <p:graphicFrame>
        <p:nvGraphicFramePr>
          <p:cNvPr id="5" name="Chart 0"/>
          <p:cNvGraphicFramePr/>
          <p:nvPr>
            <p:extLst>
              <p:ext uri="{D42A27DB-BD31-4B8C-83A1-F6EECF244321}">
                <p14:modId xmlns:p14="http://schemas.microsoft.com/office/powerpoint/2010/main" val="3816843939"/>
              </p:ext>
            </p:extLst>
          </p:nvPr>
        </p:nvGraphicFramePr>
        <p:xfrm>
          <a:off x="411480" y="960120"/>
          <a:ext cx="36576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77240" y="1965960"/>
            <a:ext cx="2926080" cy="594360"/>
          </a:xfrm>
          <a:prstGeom prst="rect">
            <a:avLst/>
          </a:prstGeom>
          <a:noFill/>
          <a:ln/>
        </p:spPr>
        <p:txBody>
          <a:bodyPr wrap="square" rtlCol="0" anchor="ctr"/>
          <a:lstStyle/>
          <a:p>
            <a:pPr marL="0" indent="0" algn="ctr">
              <a:buNone/>
            </a:pPr>
            <a:r>
              <a:rPr lang="en-US" sz="3800" b="1" dirty="0">
                <a:solidFill>
                  <a:srgbClr val="1C4E80"/>
                </a:solidFill>
                <a:latin typeface="Calibri" pitchFamily="34" charset="0"/>
                <a:ea typeface="Calibri" pitchFamily="34" charset="-122"/>
                <a:cs typeface="Calibri" pitchFamily="34" charset="-120"/>
              </a:rPr>
              <a:t>0.22</a:t>
            </a:r>
            <a:endParaRPr lang="en-US" sz="3800" dirty="0"/>
          </a:p>
        </p:txBody>
      </p:sp>
      <p:sp>
        <p:nvSpPr>
          <p:cNvPr id="7" name="Text 4"/>
          <p:cNvSpPr/>
          <p:nvPr/>
        </p:nvSpPr>
        <p:spPr>
          <a:xfrm>
            <a:off x="777240" y="2514600"/>
            <a:ext cx="2926080" cy="274320"/>
          </a:xfrm>
          <a:prstGeom prst="rect">
            <a:avLst/>
          </a:prstGeom>
          <a:noFill/>
          <a:ln/>
        </p:spPr>
        <p:txBody>
          <a:bodyPr wrap="square"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F1 Score</a:t>
            </a:r>
            <a:endParaRPr lang="en-US" sz="1100" dirty="0"/>
          </a:p>
        </p:txBody>
      </p:sp>
      <p:sp>
        <p:nvSpPr>
          <p:cNvPr id="8" name="Shape 5"/>
          <p:cNvSpPr/>
          <p:nvPr/>
        </p:nvSpPr>
        <p:spPr>
          <a:xfrm>
            <a:off x="4251960" y="960120"/>
            <a:ext cx="4526280" cy="13716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4251960" y="960120"/>
            <a:ext cx="54864" cy="1371600"/>
          </a:xfrm>
          <a:prstGeom prst="rect">
            <a:avLst/>
          </a:prstGeom>
          <a:solidFill>
            <a:srgbClr val="DC2626"/>
          </a:solidFill>
          <a:ln w="12700">
            <a:solidFill>
              <a:srgbClr val="DC2626"/>
            </a:solidFill>
            <a:prstDash val="solid"/>
          </a:ln>
        </p:spPr>
        <p:txBody>
          <a:bodyPr/>
          <a:lstStyle/>
          <a:p>
            <a:endParaRPr lang="en-US"/>
          </a:p>
        </p:txBody>
      </p:sp>
      <p:sp>
        <p:nvSpPr>
          <p:cNvPr id="10" name="Text 7"/>
          <p:cNvSpPr/>
          <p:nvPr/>
        </p:nvSpPr>
        <p:spPr>
          <a:xfrm>
            <a:off x="4407408" y="1005840"/>
            <a:ext cx="4251960" cy="347472"/>
          </a:xfrm>
          <a:prstGeom prst="rect">
            <a:avLst/>
          </a:prstGeom>
          <a:noFill/>
          <a:ln/>
        </p:spPr>
        <p:txBody>
          <a:bodyPr wrap="square"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Exact Match (EM) = 0.00</a:t>
            </a:r>
            <a:endParaRPr lang="en-US" sz="1400" dirty="0"/>
          </a:p>
        </p:txBody>
      </p:sp>
      <p:sp>
        <p:nvSpPr>
          <p:cNvPr id="11" name="Text 8"/>
          <p:cNvSpPr/>
          <p:nvPr/>
        </p:nvSpPr>
        <p:spPr>
          <a:xfrm>
            <a:off x="4407408" y="1353312"/>
            <a:ext cx="4251960" cy="9144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Llama-3-8B-Instruct is an instruction-following model trained to produce conversational sentences — e.g. "The answer is X, because..." — rather than bare substrings. Exact character match is structurally impossible regardless of factual correctness.</a:t>
            </a:r>
            <a:endParaRPr lang="en-US" sz="1050" dirty="0"/>
          </a:p>
        </p:txBody>
      </p:sp>
      <p:sp>
        <p:nvSpPr>
          <p:cNvPr id="12" name="Shape 9"/>
          <p:cNvSpPr/>
          <p:nvPr/>
        </p:nvSpPr>
        <p:spPr>
          <a:xfrm>
            <a:off x="4251960" y="2468880"/>
            <a:ext cx="4526280" cy="15544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0"/>
          <p:cNvSpPr/>
          <p:nvPr/>
        </p:nvSpPr>
        <p:spPr>
          <a:xfrm>
            <a:off x="4251960" y="2468880"/>
            <a:ext cx="54864" cy="1554480"/>
          </a:xfrm>
          <a:prstGeom prst="rect">
            <a:avLst/>
          </a:prstGeom>
          <a:solidFill>
            <a:srgbClr val="10B981"/>
          </a:solidFill>
          <a:ln w="12700">
            <a:solidFill>
              <a:srgbClr val="10B981"/>
            </a:solidFill>
            <a:prstDash val="solid"/>
          </a:ln>
        </p:spPr>
        <p:txBody>
          <a:bodyPr/>
          <a:lstStyle/>
          <a:p>
            <a:endParaRPr lang="en-US"/>
          </a:p>
        </p:txBody>
      </p:sp>
      <p:sp>
        <p:nvSpPr>
          <p:cNvPr id="14" name="Text 11"/>
          <p:cNvSpPr/>
          <p:nvPr/>
        </p:nvSpPr>
        <p:spPr>
          <a:xfrm>
            <a:off x="4407408" y="2523744"/>
            <a:ext cx="4251960" cy="347472"/>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F1 = 0.22 — What it means</a:t>
            </a:r>
            <a:endParaRPr lang="en-US" sz="1300" dirty="0"/>
          </a:p>
        </p:txBody>
      </p:sp>
      <p:sp>
        <p:nvSpPr>
          <p:cNvPr id="15" name="Text 12"/>
          <p:cNvSpPr/>
          <p:nvPr/>
        </p:nvSpPr>
        <p:spPr>
          <a:xfrm>
            <a:off x="4407408" y="2871216"/>
            <a:ext cx="4251960" cy="1078992"/>
          </a:xfrm>
          <a:prstGeom prst="rect">
            <a:avLst/>
          </a:prstGeom>
          <a:noFill/>
          <a:ln/>
        </p:spPr>
        <p:txBody>
          <a:bodyPr wrap="square"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Token-level overlap confirming the model grounds answers in retrieved context.</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Several questions achieved F1 &gt; 0.65; maximum individual F1 = 0.80.</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Low aggregate F1 driven primarily by limited Qdrant index scope — questions whose relevant passages were not indexed receive near-zero retrieval recall.</a:t>
            </a:r>
            <a:endParaRPr lang="en-US" sz="1050" dirty="0"/>
          </a:p>
        </p:txBody>
      </p:sp>
      <p:sp>
        <p:nvSpPr>
          <p:cNvPr id="16" name="Shape 13"/>
          <p:cNvSpPr/>
          <p:nvPr/>
        </p:nvSpPr>
        <p:spPr>
          <a:xfrm>
            <a:off x="4251960" y="4160520"/>
            <a:ext cx="4526280" cy="749808"/>
          </a:xfrm>
          <a:prstGeom prst="rect">
            <a:avLst/>
          </a:prstGeom>
          <a:solidFill>
            <a:srgbClr val="EFF6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Text 14"/>
          <p:cNvSpPr/>
          <p:nvPr/>
        </p:nvSpPr>
        <p:spPr>
          <a:xfrm>
            <a:off x="4407408" y="4160520"/>
            <a:ext cx="4297680" cy="749808"/>
          </a:xfrm>
          <a:prstGeom prst="rect">
            <a:avLst/>
          </a:prstGeom>
          <a:noFill/>
          <a:ln/>
        </p:spPr>
        <p:txBody>
          <a:bodyPr wrap="square" rtlCol="0" anchor="ctr"/>
          <a:lstStyle/>
          <a:p>
            <a:pPr marL="0" indent="0">
              <a:buNone/>
            </a:pPr>
            <a:r>
              <a:rPr lang="en-US" sz="1050" i="1" dirty="0">
                <a:solidFill>
                  <a:srgbClr val="1C4E80"/>
                </a:solidFill>
                <a:latin typeface="Calibri" pitchFamily="34" charset="0"/>
                <a:ea typeface="Calibri" pitchFamily="34" charset="-122"/>
                <a:cs typeface="Calibri" pitchFamily="34" charset="-120"/>
              </a:rPr>
              <a:t>Conclusion: The retrieval pipeline is working. When the correct passage is retrieved, the model produces factually grounded, high-F1 responses. Broader indexing = higher F1.</a:t>
            </a:r>
            <a:endParaRPr lang="en-US" sz="1050" dirty="0"/>
          </a:p>
        </p:txBody>
      </p:sp>
      <p:sp>
        <p:nvSpPr>
          <p:cNvPr id="18" name="Text 15"/>
          <p:cNvSpPr/>
          <p:nvPr/>
        </p:nvSpPr>
        <p:spPr>
          <a:xfrm>
            <a:off x="411480" y="4892040"/>
            <a:ext cx="8321040" cy="201168"/>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NLP&amp;PDC Final Project  ·  FAST-NUCES  ·  May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4E80"/>
          </a:solidFill>
          <a:ln w="12700">
            <a:solidFill>
              <a:srgbClr val="1C4E80"/>
            </a:solidFill>
            <a:prstDash val="solid"/>
          </a:ln>
        </p:spPr>
        <p:txBody>
          <a:bodyPr/>
          <a:lstStyle/>
          <a:p>
            <a:endParaRPr lang="en-US"/>
          </a:p>
        </p:txBody>
      </p:sp>
      <p:sp>
        <p:nvSpPr>
          <p:cNvPr id="3" name="Shape 1"/>
          <p:cNvSpPr/>
          <p:nvPr/>
        </p:nvSpPr>
        <p:spPr>
          <a:xfrm>
            <a:off x="201168" y="0"/>
            <a:ext cx="64008" cy="5143500"/>
          </a:xfrm>
          <a:prstGeom prst="rect">
            <a:avLst/>
          </a:prstGeom>
          <a:solidFill>
            <a:srgbClr val="00B4D8"/>
          </a:solidFill>
          <a:ln w="12700">
            <a:solidFill>
              <a:srgbClr val="00B4D8"/>
            </a:solidFill>
            <a:prstDash val="solid"/>
          </a:ln>
        </p:spPr>
        <p:txBody>
          <a:bodyPr/>
          <a:lstStyle/>
          <a:p>
            <a:endParaRPr lang="en-US"/>
          </a:p>
        </p:txBody>
      </p:sp>
      <p:sp>
        <p:nvSpPr>
          <p:cNvPr id="4" name="Text 2"/>
          <p:cNvSpPr/>
          <p:nvPr/>
        </p:nvSpPr>
        <p:spPr>
          <a:xfrm>
            <a:off x="502920" y="27432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5" name="Shape 3"/>
          <p:cNvSpPr/>
          <p:nvPr/>
        </p:nvSpPr>
        <p:spPr>
          <a:xfrm>
            <a:off x="502920" y="841248"/>
            <a:ext cx="8229600" cy="18288"/>
          </a:xfrm>
          <a:prstGeom prst="rect">
            <a:avLst/>
          </a:prstGeom>
          <a:solidFill>
            <a:srgbClr val="00B4D8"/>
          </a:solidFill>
          <a:ln w="12700">
            <a:solidFill>
              <a:srgbClr val="00B4D8"/>
            </a:solidFill>
            <a:prstDash val="solid"/>
          </a:ln>
        </p:spPr>
        <p:txBody>
          <a:bodyPr/>
          <a:lstStyle/>
          <a:p>
            <a:endParaRPr lang="en-US"/>
          </a:p>
        </p:txBody>
      </p:sp>
      <p:sp>
        <p:nvSpPr>
          <p:cNvPr id="6" name="Shape 4"/>
          <p:cNvSpPr/>
          <p:nvPr/>
        </p:nvSpPr>
        <p:spPr>
          <a:xfrm>
            <a:off x="502920" y="1024128"/>
            <a:ext cx="54864" cy="804672"/>
          </a:xfrm>
          <a:prstGeom prst="rect">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713232" y="1060704"/>
            <a:ext cx="7909560" cy="292608"/>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Latency Masking Confirmed</a:t>
            </a:r>
            <a:endParaRPr lang="en-US" sz="1300" dirty="0"/>
          </a:p>
        </p:txBody>
      </p:sp>
      <p:sp>
        <p:nvSpPr>
          <p:cNvPr id="8" name="Text 6"/>
          <p:cNvSpPr/>
          <p:nvPr/>
        </p:nvSpPr>
        <p:spPr>
          <a:xfrm>
            <a:off x="713232" y="1353312"/>
            <a:ext cx="7909560" cy="457200"/>
          </a:xfrm>
          <a:prstGeom prst="rect">
            <a:avLst/>
          </a:prstGeom>
          <a:noFill/>
          <a:ln/>
        </p:spPr>
        <p:txBody>
          <a:bodyPr wrap="square" lIns="0" tIns="0" rIns="0" bIns="0" rtlCol="0" anchor="ctr"/>
          <a:lstStyle/>
          <a:p>
            <a:pPr marL="0" indent="0">
              <a:buNone/>
            </a:pPr>
            <a:r>
              <a:rPr lang="en-US" sz="1100" dirty="0">
                <a:solidFill>
                  <a:srgbClr val="B0C4DE"/>
                </a:solidFill>
                <a:latin typeface="Calibri" pitchFamily="34" charset="0"/>
                <a:ea typeface="Calibri" pitchFamily="34" charset="-122"/>
                <a:cs typeface="Calibri" pitchFamily="34" charset="-120"/>
              </a:rPr>
              <a:t>BM25 sparse retrieval completes in 0.7 ms and contributes zero milliseconds to the user-visible critical path. Edge-TTFT is 190–195 ms, dominated entirely by the remote dense branch.</a:t>
            </a:r>
            <a:endParaRPr lang="en-US" sz="1100" dirty="0"/>
          </a:p>
        </p:txBody>
      </p:sp>
      <p:sp>
        <p:nvSpPr>
          <p:cNvPr id="9" name="Shape 7"/>
          <p:cNvSpPr/>
          <p:nvPr/>
        </p:nvSpPr>
        <p:spPr>
          <a:xfrm>
            <a:off x="502920" y="1993392"/>
            <a:ext cx="54864" cy="804672"/>
          </a:xfrm>
          <a:prstGeom prst="rect">
            <a:avLst/>
          </a:prstGeom>
          <a:solidFill>
            <a:srgbClr val="00B4D8"/>
          </a:solidFill>
          <a:ln w="12700">
            <a:solidFill>
              <a:srgbClr val="00B4D8"/>
            </a:solidFill>
            <a:prstDash val="solid"/>
          </a:ln>
        </p:spPr>
        <p:txBody>
          <a:bodyPr/>
          <a:lstStyle/>
          <a:p>
            <a:endParaRPr lang="en-US"/>
          </a:p>
        </p:txBody>
      </p:sp>
      <p:sp>
        <p:nvSpPr>
          <p:cNvPr id="10" name="Text 8"/>
          <p:cNvSpPr/>
          <p:nvPr/>
        </p:nvSpPr>
        <p:spPr>
          <a:xfrm>
            <a:off x="713232" y="2029968"/>
            <a:ext cx="7909560" cy="292608"/>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Fault Tolerance Proven</a:t>
            </a:r>
            <a:endParaRPr lang="en-US" sz="1300" dirty="0"/>
          </a:p>
        </p:txBody>
      </p:sp>
      <p:sp>
        <p:nvSpPr>
          <p:cNvPr id="11" name="Text 9"/>
          <p:cNvSpPr/>
          <p:nvPr/>
        </p:nvSpPr>
        <p:spPr>
          <a:xfrm>
            <a:off x="713232" y="2322576"/>
            <a:ext cx="7909560" cy="457200"/>
          </a:xfrm>
          <a:prstGeom prst="rect">
            <a:avLst/>
          </a:prstGeom>
          <a:noFill/>
          <a:ln/>
        </p:spPr>
        <p:txBody>
          <a:bodyPr wrap="square" lIns="0" tIns="0" rIns="0" bIns="0" rtlCol="0" anchor="ctr"/>
          <a:lstStyle/>
          <a:p>
            <a:pPr marL="0" indent="0">
              <a:buNone/>
            </a:pPr>
            <a:r>
              <a:rPr lang="en-US" sz="1100" dirty="0">
                <a:solidFill>
                  <a:srgbClr val="B0C4DE"/>
                </a:solidFill>
                <a:latin typeface="Calibri" pitchFamily="34" charset="0"/>
                <a:ea typeface="Calibri" pitchFamily="34" charset="-122"/>
                <a:cs typeface="Calibri" pitchFamily="34" charset="-120"/>
              </a:rPr>
              <a:t>The Active Inference fallback was triggered under real network conditions and delivered a complete generation with no user-visible stall — a capability absent from sequential RAG architectures.</a:t>
            </a:r>
            <a:endParaRPr lang="en-US" sz="1100" dirty="0"/>
          </a:p>
        </p:txBody>
      </p:sp>
      <p:sp>
        <p:nvSpPr>
          <p:cNvPr id="12" name="Shape 10"/>
          <p:cNvSpPr/>
          <p:nvPr/>
        </p:nvSpPr>
        <p:spPr>
          <a:xfrm>
            <a:off x="502920" y="2962656"/>
            <a:ext cx="54864" cy="804672"/>
          </a:xfrm>
          <a:prstGeom prst="rect">
            <a:avLst/>
          </a:prstGeom>
          <a:solidFill>
            <a:srgbClr val="00B4D8"/>
          </a:solidFill>
          <a:ln w="12700">
            <a:solidFill>
              <a:srgbClr val="00B4D8"/>
            </a:solidFill>
            <a:prstDash val="solid"/>
          </a:ln>
        </p:spPr>
        <p:txBody>
          <a:bodyPr/>
          <a:lstStyle/>
          <a:p>
            <a:endParaRPr lang="en-US"/>
          </a:p>
        </p:txBody>
      </p:sp>
      <p:sp>
        <p:nvSpPr>
          <p:cNvPr id="13" name="Text 11"/>
          <p:cNvSpPr/>
          <p:nvPr/>
        </p:nvSpPr>
        <p:spPr>
          <a:xfrm>
            <a:off x="713232" y="2999232"/>
            <a:ext cx="7909560" cy="292608"/>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Hardware Efficiency Achieved</a:t>
            </a:r>
            <a:endParaRPr lang="en-US" sz="1300" dirty="0"/>
          </a:p>
        </p:txBody>
      </p:sp>
      <p:sp>
        <p:nvSpPr>
          <p:cNvPr id="14" name="Text 12"/>
          <p:cNvSpPr/>
          <p:nvPr/>
        </p:nvSpPr>
        <p:spPr>
          <a:xfrm>
            <a:off x="713232" y="3291840"/>
            <a:ext cx="7909560" cy="457200"/>
          </a:xfrm>
          <a:prstGeom prst="rect">
            <a:avLst/>
          </a:prstGeom>
          <a:noFill/>
          <a:ln/>
        </p:spPr>
        <p:txBody>
          <a:bodyPr wrap="square" lIns="0" tIns="0" rIns="0" bIns="0" rtlCol="0" anchor="ctr"/>
          <a:lstStyle/>
          <a:p>
            <a:pPr marL="0" indent="0">
              <a:buNone/>
            </a:pPr>
            <a:r>
              <a:rPr lang="en-US" sz="1100" dirty="0">
                <a:solidFill>
                  <a:srgbClr val="B0C4DE"/>
                </a:solidFill>
                <a:latin typeface="Calibri" pitchFamily="34" charset="0"/>
                <a:ea typeface="Calibri" pitchFamily="34" charset="-122"/>
                <a:cs typeface="Calibri" pitchFamily="34" charset="-120"/>
              </a:rPr>
              <a:t>AWQ 4-bit quantization compressed Llama-3-8B from 16 GB to 5.34 GB (3× compression) with no material degradation to generation throughput (65–82 tokens/s).</a:t>
            </a:r>
            <a:endParaRPr lang="en-US" sz="1100" dirty="0"/>
          </a:p>
        </p:txBody>
      </p:sp>
      <p:sp>
        <p:nvSpPr>
          <p:cNvPr id="15" name="Shape 13"/>
          <p:cNvSpPr/>
          <p:nvPr/>
        </p:nvSpPr>
        <p:spPr>
          <a:xfrm>
            <a:off x="502920" y="3931920"/>
            <a:ext cx="54864" cy="804672"/>
          </a:xfrm>
          <a:prstGeom prst="rect">
            <a:avLst/>
          </a:prstGeom>
          <a:solidFill>
            <a:srgbClr val="94A3B8"/>
          </a:solidFill>
          <a:ln w="12700">
            <a:solidFill>
              <a:srgbClr val="94A3B8"/>
            </a:solidFill>
            <a:prstDash val="solid"/>
          </a:ln>
        </p:spPr>
        <p:txBody>
          <a:bodyPr/>
          <a:lstStyle/>
          <a:p>
            <a:endParaRPr lang="en-US"/>
          </a:p>
        </p:txBody>
      </p:sp>
      <p:sp>
        <p:nvSpPr>
          <p:cNvPr id="16" name="Text 14"/>
          <p:cNvSpPr/>
          <p:nvPr/>
        </p:nvSpPr>
        <p:spPr>
          <a:xfrm>
            <a:off x="713232" y="3968496"/>
            <a:ext cx="7909560" cy="292608"/>
          </a:xfrm>
          <a:prstGeom prst="rect">
            <a:avLst/>
          </a:prstGeom>
          <a:noFill/>
          <a:ln/>
        </p:spPr>
        <p:txBody>
          <a:bodyPr wrap="square" lIns="0" tIns="0" rIns="0" bIns="0" rtlCol="0" anchor="ctr"/>
          <a:lstStyle/>
          <a:p>
            <a:pPr marL="0" indent="0">
              <a:buNone/>
            </a:pPr>
            <a:r>
              <a:rPr lang="en-US" sz="1300" b="1" dirty="0">
                <a:solidFill>
                  <a:srgbClr val="94A3B8"/>
                </a:solidFill>
                <a:latin typeface="Calibri" pitchFamily="34" charset="0"/>
                <a:ea typeface="Calibri" pitchFamily="34" charset="-122"/>
                <a:cs typeface="Calibri" pitchFamily="34" charset="-120"/>
              </a:rPr>
              <a:t>Future Work</a:t>
            </a:r>
            <a:endParaRPr lang="en-US" sz="1300" dirty="0"/>
          </a:p>
        </p:txBody>
      </p:sp>
      <p:sp>
        <p:nvSpPr>
          <p:cNvPr id="17" name="Text 15"/>
          <p:cNvSpPr/>
          <p:nvPr/>
        </p:nvSpPr>
        <p:spPr>
          <a:xfrm>
            <a:off x="713232" y="4261104"/>
            <a:ext cx="7909560" cy="457200"/>
          </a:xfrm>
          <a:prstGeom prst="rect">
            <a:avLst/>
          </a:prstGeom>
          <a:noFill/>
          <a:ln/>
        </p:spPr>
        <p:txBody>
          <a:bodyPr wrap="square" lIns="0" tIns="0" rIns="0" bIns="0" rtlCol="0" anchor="ctr"/>
          <a:lstStyle/>
          <a:p>
            <a:pPr marL="0" indent="0">
              <a:buNone/>
            </a:pPr>
            <a:r>
              <a:rPr lang="en-US" sz="1100" dirty="0">
                <a:solidFill>
                  <a:srgbClr val="B0C4DE"/>
                </a:solidFill>
                <a:latin typeface="Calibri" pitchFamily="34" charset="0"/>
                <a:ea typeface="Calibri" pitchFamily="34" charset="-122"/>
                <a:cs typeface="Calibri" pitchFamily="34" charset="-120"/>
              </a:rPr>
              <a:t>Enable awq_marlin kernel for additional throughput · Extend to MS MARCO MRR@10 · Multi-user concurrent batching · Online bandit-based adaptive scheduler replacing static timeout.</a:t>
            </a:r>
            <a:endParaRPr lang="en-US" sz="1100" dirty="0"/>
          </a:p>
        </p:txBody>
      </p:sp>
      <p:sp>
        <p:nvSpPr>
          <p:cNvPr id="18" name="Shape 16"/>
          <p:cNvSpPr/>
          <p:nvPr/>
        </p:nvSpPr>
        <p:spPr>
          <a:xfrm>
            <a:off x="502920" y="4736592"/>
            <a:ext cx="8275320" cy="274320"/>
          </a:xfrm>
          <a:prstGeom prst="rect">
            <a:avLst/>
          </a:prstGeom>
          <a:solidFill>
            <a:srgbClr val="1C4E80"/>
          </a:solidFill>
          <a:ln w="12700">
            <a:solidFill>
              <a:srgbClr val="1C4E80"/>
            </a:solidFill>
            <a:prstDash val="solid"/>
          </a:ln>
        </p:spPr>
        <p:txBody>
          <a:bodyPr/>
          <a:lstStyle/>
          <a:p>
            <a:endParaRPr lang="en-US"/>
          </a:p>
        </p:txBody>
      </p:sp>
      <p:sp>
        <p:nvSpPr>
          <p:cNvPr id="19" name="Text 17"/>
          <p:cNvSpPr/>
          <p:nvPr/>
        </p:nvSpPr>
        <p:spPr>
          <a:xfrm>
            <a:off x="502920" y="4736592"/>
            <a:ext cx="8275320" cy="274320"/>
          </a:xfrm>
          <a:prstGeom prst="rect">
            <a:avLst/>
          </a:prstGeom>
          <a:noFill/>
          <a:ln/>
        </p:spPr>
        <p:txBody>
          <a:bodyPr wrap="square" lIns="0" tIns="0" rIns="0" bIns="0"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Thank you — We are ready for your questions and the live demonstration.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3885</Words>
  <Application>Microsoft Office PowerPoint</Application>
  <PresentationFormat>On-screen Show (16:9)</PresentationFormat>
  <Paragraphs>186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Geo-Distributed Pipeline Parallelism for Hybrid RAG</dc:title>
  <dc:subject>PptxGenJS Presentation</dc:subject>
  <dc:creator>M. Abdullah Ali &amp; M. Abdullah Aamir</dc:creator>
  <cp:lastModifiedBy>Abdullah Ali</cp:lastModifiedBy>
  <cp:revision>2</cp:revision>
  <dcterms:created xsi:type="dcterms:W3CDTF">2026-05-03T20:50:31Z</dcterms:created>
  <dcterms:modified xsi:type="dcterms:W3CDTF">2026-05-03T21:14:34Z</dcterms:modified>
</cp:coreProperties>
</file>